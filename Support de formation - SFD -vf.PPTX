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1"/>
  </p:sldMasterIdLst>
  <p:notesMasterIdLst>
    <p:notesMasterId r:id="rId43"/>
  </p:notesMasterIdLst>
  <p:handoutMasterIdLst>
    <p:handoutMasterId r:id="rId44"/>
  </p:handoutMasterIdLst>
  <p:sldIdLst>
    <p:sldId id="256" r:id="rId2"/>
    <p:sldId id="264" r:id="rId3"/>
    <p:sldId id="258" r:id="rId4"/>
    <p:sldId id="294" r:id="rId5"/>
    <p:sldId id="302" r:id="rId6"/>
    <p:sldId id="303" r:id="rId7"/>
    <p:sldId id="295" r:id="rId8"/>
    <p:sldId id="304" r:id="rId9"/>
    <p:sldId id="296" r:id="rId10"/>
    <p:sldId id="316" r:id="rId11"/>
    <p:sldId id="297" r:id="rId12"/>
    <p:sldId id="298" r:id="rId13"/>
    <p:sldId id="299" r:id="rId14"/>
    <p:sldId id="300" r:id="rId15"/>
    <p:sldId id="305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265" r:id="rId25"/>
    <p:sldId id="301" r:id="rId26"/>
    <p:sldId id="293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315" r:id="rId35"/>
    <p:sldId id="273" r:id="rId36"/>
    <p:sldId id="274" r:id="rId37"/>
    <p:sldId id="275" r:id="rId38"/>
    <p:sldId id="276" r:id="rId39"/>
    <p:sldId id="283" r:id="rId40"/>
    <p:sldId id="285" r:id="rId41"/>
    <p:sldId id="282" r:id="rId42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eur" initials="A" lastIdx="8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76364" autoAdjust="0"/>
  </p:normalViewPr>
  <p:slideViewPr>
    <p:cSldViewPr snapToGrid="0">
      <p:cViewPr varScale="1">
        <p:scale>
          <a:sx n="71" d="100"/>
          <a:sy n="71" d="100"/>
        </p:scale>
        <p:origin x="13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463C8A-AA8A-4F33-A5FD-9EB92A371610}" type="doc">
      <dgm:prSet loTypeId="urn:microsoft.com/office/officeart/2005/8/layout/radial5" loCatId="cycle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fr-FR"/>
        </a:p>
      </dgm:t>
    </dgm:pt>
    <dgm:pt modelId="{E7CA4584-F7C2-4A13-B518-BD238DF6ED30}">
      <dgm:prSet phldrT="[Texte]"/>
      <dgm:spPr/>
      <dgm:t>
        <a:bodyPr/>
        <a:lstStyle/>
        <a:p>
          <a:r>
            <a:rPr lang="fr-FR" dirty="0" err="1" smtClean="0"/>
            <a:t>OpenKM</a:t>
          </a:r>
          <a:endParaRPr lang="fr-FR" dirty="0"/>
        </a:p>
      </dgm:t>
    </dgm:pt>
    <dgm:pt modelId="{7CB36FC1-E9B6-4020-9302-D44EA77CA224}" type="parTrans" cxnId="{5EB0527D-DB74-4857-BC61-95171779FC74}">
      <dgm:prSet/>
      <dgm:spPr/>
      <dgm:t>
        <a:bodyPr/>
        <a:lstStyle/>
        <a:p>
          <a:endParaRPr lang="fr-FR"/>
        </a:p>
      </dgm:t>
    </dgm:pt>
    <dgm:pt modelId="{14B5DDD0-DE79-457D-A40E-72C67E201FAA}" type="sibTrans" cxnId="{5EB0527D-DB74-4857-BC61-95171779FC74}">
      <dgm:prSet/>
      <dgm:spPr/>
      <dgm:t>
        <a:bodyPr/>
        <a:lstStyle/>
        <a:p>
          <a:endParaRPr lang="fr-FR"/>
        </a:p>
      </dgm:t>
    </dgm:pt>
    <dgm:pt modelId="{38AF3D67-733B-4D1A-B570-4D394CA4C746}">
      <dgm:prSet phldrT="[Texte]"/>
      <dgm:spPr>
        <a:solidFill>
          <a:schemeClr val="bg2">
            <a:lumMod val="60000"/>
            <a:lumOff val="40000"/>
          </a:schemeClr>
        </a:solidFill>
      </dgm:spPr>
      <dgm:t>
        <a:bodyPr/>
        <a:lstStyle/>
        <a:p>
          <a:r>
            <a:rPr lang="fr-FR" dirty="0" smtClean="0"/>
            <a:t>SFD</a:t>
          </a:r>
          <a:endParaRPr lang="fr-FR" dirty="0"/>
        </a:p>
      </dgm:t>
    </dgm:pt>
    <dgm:pt modelId="{4FE80DC8-8F3C-4AAA-8E17-7FAC88C341BE}" type="parTrans" cxnId="{31DFC468-80C8-4428-95AD-4677BBFE290A}">
      <dgm:prSet/>
      <dgm:spPr/>
      <dgm:t>
        <a:bodyPr/>
        <a:lstStyle/>
        <a:p>
          <a:endParaRPr lang="fr-FR"/>
        </a:p>
      </dgm:t>
    </dgm:pt>
    <dgm:pt modelId="{17E7C3BD-44C5-4AEF-896A-C1B72B68B5FA}" type="sibTrans" cxnId="{31DFC468-80C8-4428-95AD-4677BBFE290A}">
      <dgm:prSet/>
      <dgm:spPr/>
      <dgm:t>
        <a:bodyPr/>
        <a:lstStyle/>
        <a:p>
          <a:endParaRPr lang="fr-FR"/>
        </a:p>
      </dgm:t>
    </dgm:pt>
    <dgm:pt modelId="{D371AC60-E261-4D59-954E-5AE64FFFFA06}">
      <dgm:prSet phldrT="[Texte]"/>
      <dgm:spPr/>
      <dgm:t>
        <a:bodyPr/>
        <a:lstStyle/>
        <a:p>
          <a:r>
            <a:rPr lang="fr-FR" dirty="0" smtClean="0"/>
            <a:t>SFD</a:t>
          </a:r>
          <a:endParaRPr lang="fr-FR" dirty="0"/>
        </a:p>
      </dgm:t>
    </dgm:pt>
    <dgm:pt modelId="{CD058E52-4457-418C-BB53-DD00EED088F0}" type="parTrans" cxnId="{3E402C7A-E615-4710-9115-D5A7A4B5209B}">
      <dgm:prSet/>
      <dgm:spPr/>
      <dgm:t>
        <a:bodyPr/>
        <a:lstStyle/>
        <a:p>
          <a:endParaRPr lang="fr-FR"/>
        </a:p>
      </dgm:t>
    </dgm:pt>
    <dgm:pt modelId="{7B346C68-24D9-4DF9-9A79-9FA968BFA7E7}" type="sibTrans" cxnId="{3E402C7A-E615-4710-9115-D5A7A4B5209B}">
      <dgm:prSet/>
      <dgm:spPr/>
      <dgm:t>
        <a:bodyPr/>
        <a:lstStyle/>
        <a:p>
          <a:endParaRPr lang="fr-FR"/>
        </a:p>
      </dgm:t>
    </dgm:pt>
    <dgm:pt modelId="{8268923D-BAE7-412B-90A9-F93ACE2F8420}">
      <dgm:prSet phldrT="[Texte]"/>
      <dgm:spPr>
        <a:solidFill>
          <a:schemeClr val="accent5"/>
        </a:solidFill>
      </dgm:spPr>
      <dgm:t>
        <a:bodyPr/>
        <a:lstStyle/>
        <a:p>
          <a:r>
            <a:rPr lang="fr-FR" dirty="0" smtClean="0"/>
            <a:t>ARSM</a:t>
          </a:r>
          <a:endParaRPr lang="fr-FR" dirty="0"/>
        </a:p>
      </dgm:t>
    </dgm:pt>
    <dgm:pt modelId="{6D4A7728-2482-430C-A020-3C8997D24186}" type="parTrans" cxnId="{6BDB9F0E-7D92-40E9-93A6-069F1300B5DE}">
      <dgm:prSet/>
      <dgm:spPr/>
      <dgm:t>
        <a:bodyPr/>
        <a:lstStyle/>
        <a:p>
          <a:endParaRPr lang="fr-FR"/>
        </a:p>
      </dgm:t>
    </dgm:pt>
    <dgm:pt modelId="{EB93F219-ADD5-423E-8FE9-39ED745705B1}" type="sibTrans" cxnId="{6BDB9F0E-7D92-40E9-93A6-069F1300B5DE}">
      <dgm:prSet/>
      <dgm:spPr/>
      <dgm:t>
        <a:bodyPr/>
        <a:lstStyle/>
        <a:p>
          <a:endParaRPr lang="fr-FR"/>
        </a:p>
      </dgm:t>
    </dgm:pt>
    <dgm:pt modelId="{F1C657A0-DCB6-4801-8CA7-2F9CF88DFCB5}">
      <dgm:prSet phldrT="[Texte]"/>
      <dgm:spPr/>
      <dgm:t>
        <a:bodyPr/>
        <a:lstStyle/>
        <a:p>
          <a:r>
            <a:rPr lang="fr-FR" dirty="0" smtClean="0"/>
            <a:t>SFD</a:t>
          </a:r>
          <a:endParaRPr lang="fr-FR" dirty="0"/>
        </a:p>
      </dgm:t>
    </dgm:pt>
    <dgm:pt modelId="{0B9D7665-4D46-4B13-9FCB-05CAB3032471}" type="parTrans" cxnId="{B29D2409-5BB5-4FF8-B83D-23D68F7215DC}">
      <dgm:prSet/>
      <dgm:spPr/>
      <dgm:t>
        <a:bodyPr/>
        <a:lstStyle/>
        <a:p>
          <a:endParaRPr lang="fr-FR"/>
        </a:p>
      </dgm:t>
    </dgm:pt>
    <dgm:pt modelId="{8E5DEF44-5466-4748-AD36-5D62DDCE0C91}" type="sibTrans" cxnId="{B29D2409-5BB5-4FF8-B83D-23D68F7215DC}">
      <dgm:prSet/>
      <dgm:spPr/>
      <dgm:t>
        <a:bodyPr/>
        <a:lstStyle/>
        <a:p>
          <a:endParaRPr lang="fr-FR"/>
        </a:p>
      </dgm:t>
    </dgm:pt>
    <dgm:pt modelId="{6AD76EB6-5E2B-426B-BD55-06872BC55915}" type="pres">
      <dgm:prSet presAssocID="{F6463C8A-AA8A-4F33-A5FD-9EB92A371610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ED76D179-10AB-4CF0-9892-4DC036D5CC6B}" type="pres">
      <dgm:prSet presAssocID="{E7CA4584-F7C2-4A13-B518-BD238DF6ED30}" presName="centerShape" presStyleLbl="node0" presStyleIdx="0" presStyleCnt="1"/>
      <dgm:spPr/>
      <dgm:t>
        <a:bodyPr/>
        <a:lstStyle/>
        <a:p>
          <a:endParaRPr lang="fr-FR"/>
        </a:p>
      </dgm:t>
    </dgm:pt>
    <dgm:pt modelId="{0F486E73-D601-4FF2-B3CF-C1E65D030FDA}" type="pres">
      <dgm:prSet presAssocID="{4FE80DC8-8F3C-4AAA-8E17-7FAC88C341BE}" presName="parTrans" presStyleLbl="sibTrans2D1" presStyleIdx="0" presStyleCnt="4" custAng="10800000" custFlipHor="0" custScaleX="121930" custScaleY="86782"/>
      <dgm:spPr/>
      <dgm:t>
        <a:bodyPr/>
        <a:lstStyle/>
        <a:p>
          <a:endParaRPr lang="fr-FR"/>
        </a:p>
      </dgm:t>
    </dgm:pt>
    <dgm:pt modelId="{08227988-96AD-4295-8E0C-F0135568A327}" type="pres">
      <dgm:prSet presAssocID="{4FE80DC8-8F3C-4AAA-8E17-7FAC88C341BE}" presName="connectorText" presStyleLbl="sibTrans2D1" presStyleIdx="0" presStyleCnt="4"/>
      <dgm:spPr/>
      <dgm:t>
        <a:bodyPr/>
        <a:lstStyle/>
        <a:p>
          <a:endParaRPr lang="fr-FR"/>
        </a:p>
      </dgm:t>
    </dgm:pt>
    <dgm:pt modelId="{216845E2-86F5-46A6-8B34-1B1895E4ABCE}" type="pres">
      <dgm:prSet presAssocID="{38AF3D67-733B-4D1A-B570-4D394CA4C746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BE11733-2294-4995-B31C-5CD08015BF90}" type="pres">
      <dgm:prSet presAssocID="{CD058E52-4457-418C-BB53-DD00EED088F0}" presName="parTrans" presStyleLbl="sibTrans2D1" presStyleIdx="1" presStyleCnt="4" custFlipHor="1" custScaleX="119327" custScaleY="76251"/>
      <dgm:spPr/>
      <dgm:t>
        <a:bodyPr/>
        <a:lstStyle/>
        <a:p>
          <a:endParaRPr lang="fr-FR"/>
        </a:p>
      </dgm:t>
    </dgm:pt>
    <dgm:pt modelId="{4619713E-FB20-47F8-A53B-1034853B6767}" type="pres">
      <dgm:prSet presAssocID="{CD058E52-4457-418C-BB53-DD00EED088F0}" presName="connectorText" presStyleLbl="sibTrans2D1" presStyleIdx="1" presStyleCnt="4"/>
      <dgm:spPr/>
      <dgm:t>
        <a:bodyPr/>
        <a:lstStyle/>
        <a:p>
          <a:endParaRPr lang="fr-FR"/>
        </a:p>
      </dgm:t>
    </dgm:pt>
    <dgm:pt modelId="{96CA67A5-B6E4-4445-A35D-003D2C03B017}" type="pres">
      <dgm:prSet presAssocID="{D371AC60-E261-4D59-954E-5AE64FFFFA06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47E1ABA-B11D-42EB-8126-8D1652E11AD9}" type="pres">
      <dgm:prSet presAssocID="{6D4A7728-2482-430C-A020-3C8997D24186}" presName="parTrans" presStyleLbl="sibTrans2D1" presStyleIdx="2" presStyleCnt="4"/>
      <dgm:spPr/>
      <dgm:t>
        <a:bodyPr/>
        <a:lstStyle/>
        <a:p>
          <a:endParaRPr lang="fr-FR"/>
        </a:p>
      </dgm:t>
    </dgm:pt>
    <dgm:pt modelId="{90E40547-BDAD-4A61-88C7-BECD2E9805A2}" type="pres">
      <dgm:prSet presAssocID="{6D4A7728-2482-430C-A020-3C8997D24186}" presName="connectorText" presStyleLbl="sibTrans2D1" presStyleIdx="2" presStyleCnt="4"/>
      <dgm:spPr/>
      <dgm:t>
        <a:bodyPr/>
        <a:lstStyle/>
        <a:p>
          <a:endParaRPr lang="fr-FR"/>
        </a:p>
      </dgm:t>
    </dgm:pt>
    <dgm:pt modelId="{D42FAEAB-7929-4096-A756-A46746089D3E}" type="pres">
      <dgm:prSet presAssocID="{8268923D-BAE7-412B-90A9-F93ACE2F8420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F9C307E-71FB-46F7-B318-4C9817CF08B5}" type="pres">
      <dgm:prSet presAssocID="{0B9D7665-4D46-4B13-9FCB-05CAB3032471}" presName="parTrans" presStyleLbl="sibTrans2D1" presStyleIdx="3" presStyleCnt="4" custFlipHor="1" custScaleX="106706" custScaleY="85159"/>
      <dgm:spPr/>
      <dgm:t>
        <a:bodyPr/>
        <a:lstStyle/>
        <a:p>
          <a:endParaRPr lang="fr-FR"/>
        </a:p>
      </dgm:t>
    </dgm:pt>
    <dgm:pt modelId="{F0182A51-DF69-482B-B0E9-09DC7571FCBD}" type="pres">
      <dgm:prSet presAssocID="{0B9D7665-4D46-4B13-9FCB-05CAB3032471}" presName="connectorText" presStyleLbl="sibTrans2D1" presStyleIdx="3" presStyleCnt="4"/>
      <dgm:spPr/>
      <dgm:t>
        <a:bodyPr/>
        <a:lstStyle/>
        <a:p>
          <a:endParaRPr lang="fr-FR"/>
        </a:p>
      </dgm:t>
    </dgm:pt>
    <dgm:pt modelId="{5360CE89-5A06-4BB8-ADA5-959E02851D26}" type="pres">
      <dgm:prSet presAssocID="{F1C657A0-DCB6-4801-8CA7-2F9CF88DFCB5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29D2409-5BB5-4FF8-B83D-23D68F7215DC}" srcId="{E7CA4584-F7C2-4A13-B518-BD238DF6ED30}" destId="{F1C657A0-DCB6-4801-8CA7-2F9CF88DFCB5}" srcOrd="3" destOrd="0" parTransId="{0B9D7665-4D46-4B13-9FCB-05CAB3032471}" sibTransId="{8E5DEF44-5466-4748-AD36-5D62DDCE0C91}"/>
    <dgm:cxn modelId="{3E402C7A-E615-4710-9115-D5A7A4B5209B}" srcId="{E7CA4584-F7C2-4A13-B518-BD238DF6ED30}" destId="{D371AC60-E261-4D59-954E-5AE64FFFFA06}" srcOrd="1" destOrd="0" parTransId="{CD058E52-4457-418C-BB53-DD00EED088F0}" sibTransId="{7B346C68-24D9-4DF9-9A79-9FA968BFA7E7}"/>
    <dgm:cxn modelId="{98798A9D-F48F-47E1-B15D-A896F4C47B5A}" type="presOf" srcId="{4FE80DC8-8F3C-4AAA-8E17-7FAC88C341BE}" destId="{08227988-96AD-4295-8E0C-F0135568A327}" srcOrd="1" destOrd="0" presId="urn:microsoft.com/office/officeart/2005/8/layout/radial5"/>
    <dgm:cxn modelId="{6D0FAAD8-2D5B-444A-8E04-E83579F0CE63}" type="presOf" srcId="{CD058E52-4457-418C-BB53-DD00EED088F0}" destId="{5BE11733-2294-4995-B31C-5CD08015BF90}" srcOrd="0" destOrd="0" presId="urn:microsoft.com/office/officeart/2005/8/layout/radial5"/>
    <dgm:cxn modelId="{6BDB9F0E-7D92-40E9-93A6-069F1300B5DE}" srcId="{E7CA4584-F7C2-4A13-B518-BD238DF6ED30}" destId="{8268923D-BAE7-412B-90A9-F93ACE2F8420}" srcOrd="2" destOrd="0" parTransId="{6D4A7728-2482-430C-A020-3C8997D24186}" sibTransId="{EB93F219-ADD5-423E-8FE9-39ED745705B1}"/>
    <dgm:cxn modelId="{78FCAB0A-70A3-452F-B8E3-D24F69BC7197}" type="presOf" srcId="{38AF3D67-733B-4D1A-B570-4D394CA4C746}" destId="{216845E2-86F5-46A6-8B34-1B1895E4ABCE}" srcOrd="0" destOrd="0" presId="urn:microsoft.com/office/officeart/2005/8/layout/radial5"/>
    <dgm:cxn modelId="{669B2D05-F4F4-4451-B48E-25A2D1A0C6D0}" type="presOf" srcId="{0B9D7665-4D46-4B13-9FCB-05CAB3032471}" destId="{8F9C307E-71FB-46F7-B318-4C9817CF08B5}" srcOrd="0" destOrd="0" presId="urn:microsoft.com/office/officeart/2005/8/layout/radial5"/>
    <dgm:cxn modelId="{644E7FA1-C4C9-49FD-9336-826F80EFD9A7}" type="presOf" srcId="{E7CA4584-F7C2-4A13-B518-BD238DF6ED30}" destId="{ED76D179-10AB-4CF0-9892-4DC036D5CC6B}" srcOrd="0" destOrd="0" presId="urn:microsoft.com/office/officeart/2005/8/layout/radial5"/>
    <dgm:cxn modelId="{F956F40A-59BD-4BBD-B51A-FC110C3BD1EB}" type="presOf" srcId="{8268923D-BAE7-412B-90A9-F93ACE2F8420}" destId="{D42FAEAB-7929-4096-A756-A46746089D3E}" srcOrd="0" destOrd="0" presId="urn:microsoft.com/office/officeart/2005/8/layout/radial5"/>
    <dgm:cxn modelId="{3505B491-36D0-49B0-8641-2D26DD98CB82}" type="presOf" srcId="{CD058E52-4457-418C-BB53-DD00EED088F0}" destId="{4619713E-FB20-47F8-A53B-1034853B6767}" srcOrd="1" destOrd="0" presId="urn:microsoft.com/office/officeart/2005/8/layout/radial5"/>
    <dgm:cxn modelId="{E6884584-5B59-4284-B4A5-5888BBDC588C}" type="presOf" srcId="{6D4A7728-2482-430C-A020-3C8997D24186}" destId="{147E1ABA-B11D-42EB-8126-8D1652E11AD9}" srcOrd="0" destOrd="0" presId="urn:microsoft.com/office/officeart/2005/8/layout/radial5"/>
    <dgm:cxn modelId="{88128AF9-E81E-4BB6-996F-331FC036F9A5}" type="presOf" srcId="{D371AC60-E261-4D59-954E-5AE64FFFFA06}" destId="{96CA67A5-B6E4-4445-A35D-003D2C03B017}" srcOrd="0" destOrd="0" presId="urn:microsoft.com/office/officeart/2005/8/layout/radial5"/>
    <dgm:cxn modelId="{3E9135E4-54C9-4AC5-99AE-8C5F470459F4}" type="presOf" srcId="{4FE80DC8-8F3C-4AAA-8E17-7FAC88C341BE}" destId="{0F486E73-D601-4FF2-B3CF-C1E65D030FDA}" srcOrd="0" destOrd="0" presId="urn:microsoft.com/office/officeart/2005/8/layout/radial5"/>
    <dgm:cxn modelId="{90B7BC69-67BB-4D5E-9E29-1B0610BAE3ED}" type="presOf" srcId="{F6463C8A-AA8A-4F33-A5FD-9EB92A371610}" destId="{6AD76EB6-5E2B-426B-BD55-06872BC55915}" srcOrd="0" destOrd="0" presId="urn:microsoft.com/office/officeart/2005/8/layout/radial5"/>
    <dgm:cxn modelId="{31DFC468-80C8-4428-95AD-4677BBFE290A}" srcId="{E7CA4584-F7C2-4A13-B518-BD238DF6ED30}" destId="{38AF3D67-733B-4D1A-B570-4D394CA4C746}" srcOrd="0" destOrd="0" parTransId="{4FE80DC8-8F3C-4AAA-8E17-7FAC88C341BE}" sibTransId="{17E7C3BD-44C5-4AEF-896A-C1B72B68B5FA}"/>
    <dgm:cxn modelId="{EA1C7EA1-034E-4DCE-B728-A0CC318CAA29}" type="presOf" srcId="{0B9D7665-4D46-4B13-9FCB-05CAB3032471}" destId="{F0182A51-DF69-482B-B0E9-09DC7571FCBD}" srcOrd="1" destOrd="0" presId="urn:microsoft.com/office/officeart/2005/8/layout/radial5"/>
    <dgm:cxn modelId="{952D3453-BBC7-44E0-A37D-5321EE7EA550}" type="presOf" srcId="{F1C657A0-DCB6-4801-8CA7-2F9CF88DFCB5}" destId="{5360CE89-5A06-4BB8-ADA5-959E02851D26}" srcOrd="0" destOrd="0" presId="urn:microsoft.com/office/officeart/2005/8/layout/radial5"/>
    <dgm:cxn modelId="{5EB0527D-DB74-4857-BC61-95171779FC74}" srcId="{F6463C8A-AA8A-4F33-A5FD-9EB92A371610}" destId="{E7CA4584-F7C2-4A13-B518-BD238DF6ED30}" srcOrd="0" destOrd="0" parTransId="{7CB36FC1-E9B6-4020-9302-D44EA77CA224}" sibTransId="{14B5DDD0-DE79-457D-A40E-72C67E201FAA}"/>
    <dgm:cxn modelId="{BBD5F336-C5EA-42CC-86C7-FA2B08C79231}" type="presOf" srcId="{6D4A7728-2482-430C-A020-3C8997D24186}" destId="{90E40547-BDAD-4A61-88C7-BECD2E9805A2}" srcOrd="1" destOrd="0" presId="urn:microsoft.com/office/officeart/2005/8/layout/radial5"/>
    <dgm:cxn modelId="{0251F221-94E8-4FCA-BB1A-D97A8D54F355}" type="presParOf" srcId="{6AD76EB6-5E2B-426B-BD55-06872BC55915}" destId="{ED76D179-10AB-4CF0-9892-4DC036D5CC6B}" srcOrd="0" destOrd="0" presId="urn:microsoft.com/office/officeart/2005/8/layout/radial5"/>
    <dgm:cxn modelId="{AB605A34-EAAC-473D-849D-C832387C69F3}" type="presParOf" srcId="{6AD76EB6-5E2B-426B-BD55-06872BC55915}" destId="{0F486E73-D601-4FF2-B3CF-C1E65D030FDA}" srcOrd="1" destOrd="0" presId="urn:microsoft.com/office/officeart/2005/8/layout/radial5"/>
    <dgm:cxn modelId="{C9D6D316-633B-4479-A4FB-96B37CCED43E}" type="presParOf" srcId="{0F486E73-D601-4FF2-B3CF-C1E65D030FDA}" destId="{08227988-96AD-4295-8E0C-F0135568A327}" srcOrd="0" destOrd="0" presId="urn:microsoft.com/office/officeart/2005/8/layout/radial5"/>
    <dgm:cxn modelId="{7987960D-CD48-44B5-8ABB-3902C11E4AF8}" type="presParOf" srcId="{6AD76EB6-5E2B-426B-BD55-06872BC55915}" destId="{216845E2-86F5-46A6-8B34-1B1895E4ABCE}" srcOrd="2" destOrd="0" presId="urn:microsoft.com/office/officeart/2005/8/layout/radial5"/>
    <dgm:cxn modelId="{D8D5FBB4-36B0-4C87-8ED0-DD1DFC843BA8}" type="presParOf" srcId="{6AD76EB6-5E2B-426B-BD55-06872BC55915}" destId="{5BE11733-2294-4995-B31C-5CD08015BF90}" srcOrd="3" destOrd="0" presId="urn:microsoft.com/office/officeart/2005/8/layout/radial5"/>
    <dgm:cxn modelId="{1CC02CB2-4F34-45B0-A480-ACF39EB6428D}" type="presParOf" srcId="{5BE11733-2294-4995-B31C-5CD08015BF90}" destId="{4619713E-FB20-47F8-A53B-1034853B6767}" srcOrd="0" destOrd="0" presId="urn:microsoft.com/office/officeart/2005/8/layout/radial5"/>
    <dgm:cxn modelId="{96F93869-993D-4740-BC95-4DFF3B7279DD}" type="presParOf" srcId="{6AD76EB6-5E2B-426B-BD55-06872BC55915}" destId="{96CA67A5-B6E4-4445-A35D-003D2C03B017}" srcOrd="4" destOrd="0" presId="urn:microsoft.com/office/officeart/2005/8/layout/radial5"/>
    <dgm:cxn modelId="{B677E65B-0F08-48BE-B6A3-5C0FC22B1E2F}" type="presParOf" srcId="{6AD76EB6-5E2B-426B-BD55-06872BC55915}" destId="{147E1ABA-B11D-42EB-8126-8D1652E11AD9}" srcOrd="5" destOrd="0" presId="urn:microsoft.com/office/officeart/2005/8/layout/radial5"/>
    <dgm:cxn modelId="{B6C53767-FDA8-4BD7-AA4A-5BFA3F6E2584}" type="presParOf" srcId="{147E1ABA-B11D-42EB-8126-8D1652E11AD9}" destId="{90E40547-BDAD-4A61-88C7-BECD2E9805A2}" srcOrd="0" destOrd="0" presId="urn:microsoft.com/office/officeart/2005/8/layout/radial5"/>
    <dgm:cxn modelId="{DDD38684-89D3-4DC1-9953-11F551A5019C}" type="presParOf" srcId="{6AD76EB6-5E2B-426B-BD55-06872BC55915}" destId="{D42FAEAB-7929-4096-A756-A46746089D3E}" srcOrd="6" destOrd="0" presId="urn:microsoft.com/office/officeart/2005/8/layout/radial5"/>
    <dgm:cxn modelId="{803FCCA4-3FFD-4558-8667-71AD9EBED780}" type="presParOf" srcId="{6AD76EB6-5E2B-426B-BD55-06872BC55915}" destId="{8F9C307E-71FB-46F7-B318-4C9817CF08B5}" srcOrd="7" destOrd="0" presId="urn:microsoft.com/office/officeart/2005/8/layout/radial5"/>
    <dgm:cxn modelId="{0F9FD7F6-63CF-47FC-8636-04DB6A2129AE}" type="presParOf" srcId="{8F9C307E-71FB-46F7-B318-4C9817CF08B5}" destId="{F0182A51-DF69-482B-B0E9-09DC7571FCBD}" srcOrd="0" destOrd="0" presId="urn:microsoft.com/office/officeart/2005/8/layout/radial5"/>
    <dgm:cxn modelId="{E8B64E63-F676-4082-B7BC-3BFF1422B7A5}" type="presParOf" srcId="{6AD76EB6-5E2B-426B-BD55-06872BC55915}" destId="{5360CE89-5A06-4BB8-ADA5-959E02851D26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xmlns="" id="{3F368B05-2D38-44D6-B8DA-599D4A9E42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2681012A-122D-475C-A900-C31EAF4E19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02FC4-2826-4189-9A5A-4802B82D90F9}" type="datetimeFigureOut">
              <a:rPr lang="fr-FR" smtClean="0"/>
              <a:t>19/03/2021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82554434-9A0E-4261-9D33-B9B86CA7C1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9F980ABD-941E-484C-95AE-BBA0656FBE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9CB67-650C-4C62-AD51-A107FCCEC4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4460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84B2-E620-4EFC-AE95-6DDE4155F805}" type="datetimeFigureOut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15328-2FD5-4AB1-B846-CCAE8EA0949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24570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07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SICS 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(Solution Informatique Centralisée de Suivi des Systèmes Financiers Décentralisés)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674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Rapport mensuel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type de document est utilisé pour spécifier qu’il s’agit d’un rapport mensuel</a:t>
            </a:r>
          </a:p>
          <a:p>
            <a:pPr lvl="0"/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Rapport trimestriel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type de document est utilisé pour spécifier qu’il s’agit d’un rapport trimestriel</a:t>
            </a:r>
          </a:p>
          <a:p>
            <a:pPr lvl="0"/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Rapport annuel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type de document est utilisé pour spécifier qu’il s’agit d’un rapport annuel</a:t>
            </a:r>
          </a:p>
          <a:p>
            <a:pPr lvl="0"/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Autres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L’option « Autres » concerne tout type de document destiné à des échanges entre les SFD et l’ARSM ; et ne concernant pas les rapports ci-dessus.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15328-2FD5-4AB1-B846-CCAE8EA09498}" type="slidenum">
              <a:rPr lang="fr-FR" noProof="0" smtClean="0"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04790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cid:image001.png@01D598AC.1E8E0B40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 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orme libre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orme libre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orme libre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orme libre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orme libre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orme libre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orme libre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orme libre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orme libre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orme libre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orme libre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orme libre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orme libre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orme libre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orme libre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orme libre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orme libre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orme libre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orme libre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orme libre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orme libre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orme libre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orme libre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orme libre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orme libre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orme libre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orme libre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orme libre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orme libre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orme libre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orme libre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orme libre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orme libre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orme libre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orme libre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orme libre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orme libre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 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orme libre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orme libre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orme libre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orme libre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orme libre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orme libre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orme libre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orme libre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orme libre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orme libre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orme libre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orme libre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orme libre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smtClean="0"/>
              <a:t>Modifiez le style des sous-titres du masque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A02EAC81-5C99-4864-A0E8-CFA5C9ABA6C2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dirty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1D7A6B-BCC2-4C21-BAE3-6AF1B840E56D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7" name="Image 6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894" y="58738"/>
            <a:ext cx="710335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93"/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35DD21-33A0-42C5-A2E5-7493465514B7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BC33FA-CEBE-4502-9F9B-2F0989154353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8" name="Image 7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ECB3ED-4851-4DE7-9A6A-4D7485AC63E3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0" name="Image 9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DFEB93-A53E-490C-AF00-EDE3AFF9A36D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6" name="Image 5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9093F2-5574-4FF9-B1D2-E15C695A74EF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5" name="Image 4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F6C24-568D-4917-863C-3B89D44003D5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8" name="Image 7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202532-655D-448B-BCCD-E52581A788ED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8" name="Image 7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CE44FF-5CD6-4B82-B1F5-6AE86C9907EB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8" name="Image 7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3B6F96-1DBA-403E-937D-37819E106CA7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413907-E3EB-48AE-AB86-05A8E02730C7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0" name="Zone de texte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Zone de texte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A7BD87-4162-417A-9B5A-2932BA9F7490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004DDE-15BB-4C4D-B4EA-C083161A9948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3" name="Image 12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r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9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0" name="Espace réservé d’image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1" name="Espace réservé du texte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3" name="Espace réservé d’image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’image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7" name="Espace réservé du texte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1F3B7E-0513-428C-82D7-BDF3AA9A4EA5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pic>
        <p:nvPicPr>
          <p:cNvPr id="15" name="Image 14" descr="Description : Description : C:\Patrick\TAF\Visuel\Photoshop\Logo 25 ans\Propal\VF\Propal 15.4 png.png"/>
          <p:cNvPicPr/>
          <p:nvPr userDrawn="1"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5873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93"/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762" y="87434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372795-7EAB-4160-A1B0-2F422ABD8E89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2BF765-708F-4989-AE14-BAB9493E4588}" type="datetime1">
              <a:rPr lang="fr-FR" noProof="0" smtClean="0"/>
              <a:t>19/03/2021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e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 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orme libre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orme libre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orme libre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orme libre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orme libre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orme libre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orme libre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orme libre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orme libre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orme libre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gne 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orme libre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orme libre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orme libre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orme libre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orme libre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orme libre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orme libre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orme libre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orme libre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orme libre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orme libre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orme libre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orme libre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orme libre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e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orme libre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orme libre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orme libre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orme libre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orme libre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orme libre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orme libre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orme libre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orme libre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fr-FR" noProof="0"/>
          </a:p>
        </p:txBody>
      </p:sp>
      <p:sp>
        <p:nvSpPr>
          <p:cNvPr id="3" name="Espace réservé au texte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D282D03-1B0F-4808-A039-91C9E6CB118E}" type="datetime1">
              <a:rPr lang="fr-FR" noProof="0" smtClean="0"/>
              <a:t>19/03/2021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467063"/>
            <a:ext cx="8791575" cy="2387600"/>
          </a:xfrm>
        </p:spPr>
        <p:txBody>
          <a:bodyPr rtlCol="0">
            <a:normAutofit/>
          </a:bodyPr>
          <a:lstStyle/>
          <a:p>
            <a:pPr algn="ctr" rtl="0"/>
            <a:r>
              <a:rPr lang="fr-FR" sz="5400" dirty="0" smtClean="0">
                <a:latin typeface="Rockwell" panose="02060603020205020403" pitchFamily="18" charset="0"/>
              </a:rPr>
              <a:t>Ajouter et Déposer ses rapports avec </a:t>
            </a:r>
            <a:r>
              <a:rPr lang="fr-FR" sz="5400" dirty="0" err="1" smtClean="0">
                <a:latin typeface="Rockwell" panose="02060603020205020403" pitchFamily="18" charset="0"/>
              </a:rPr>
              <a:t>openkm</a:t>
            </a:r>
            <a:endParaRPr lang="fr-FR" sz="5400" dirty="0">
              <a:latin typeface="Rockwell" panose="02060603020205020403" pitchFamily="18" charset="0"/>
            </a:endParaRPr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>
          <a:xfrm>
            <a:off x="1876424" y="4946738"/>
            <a:ext cx="8791575" cy="1655762"/>
          </a:xfrm>
        </p:spPr>
        <p:txBody>
          <a:bodyPr/>
          <a:lstStyle/>
          <a:p>
            <a:pPr algn="ctr"/>
            <a:r>
              <a:rPr lang="fr-FR" dirty="0" smtClean="0"/>
              <a:t>UTILISATEUR : SFD</a:t>
            </a:r>
            <a:endParaRPr lang="fr-FR" dirty="0"/>
          </a:p>
        </p:txBody>
      </p:sp>
      <p:pic>
        <p:nvPicPr>
          <p:cNvPr id="7" name="Picture 9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576" y="1277471"/>
            <a:ext cx="1573661" cy="1428693"/>
          </a:xfrm>
          <a:prstGeom prst="rect">
            <a:avLst/>
          </a:prstGeom>
        </p:spPr>
      </p:pic>
      <p:pic>
        <p:nvPicPr>
          <p:cNvPr id="8" name="Image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37825" y="1277470"/>
            <a:ext cx="1178671" cy="14286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Ordre du jour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54330" y="2234973"/>
            <a:ext cx="10121670" cy="4180342"/>
          </a:xfrm>
        </p:spPr>
        <p:txBody>
          <a:bodyPr>
            <a:normAutofit fontScale="92500" lnSpcReduction="20000"/>
          </a:bodyPr>
          <a:lstStyle/>
          <a:p>
            <a:pPr marL="1028700" lvl="1" indent="-571500">
              <a:buFont typeface="+mj-lt"/>
              <a:buAutoNum type="romanUcPeriod"/>
            </a:pPr>
            <a:r>
              <a:rPr lang="fr-FR" sz="3200" dirty="0" err="1" smtClean="0"/>
              <a:t>OpenKM</a:t>
            </a:r>
            <a:r>
              <a:rPr lang="fr-FR" sz="3200" dirty="0" smtClean="0"/>
              <a:t>, c’est quoi?</a:t>
            </a:r>
          </a:p>
          <a:p>
            <a:pPr marL="971550" lvl="1" indent="-514350">
              <a:buFont typeface="+mj-lt"/>
              <a:buAutoNum type="romanUcPeriod"/>
            </a:pPr>
            <a:r>
              <a:rPr lang="fr-FR" sz="3200" dirty="0" smtClean="0"/>
              <a:t> Comment envoyer notre rapport à l’ARSM en 02 étapes ?</a:t>
            </a:r>
          </a:p>
          <a:p>
            <a:pPr marL="971550" lvl="1" indent="-514350">
              <a:buFont typeface="+mj-lt"/>
              <a:buAutoNum type="romanUcPeriod"/>
            </a:pPr>
            <a:r>
              <a:rPr lang="fr-FR" sz="3200" dirty="0"/>
              <a:t> </a:t>
            </a:r>
            <a:r>
              <a:rPr lang="fr-FR" sz="3200" dirty="0" smtClean="0"/>
              <a:t>Que faire si notre rapport a été refusé ?</a:t>
            </a:r>
          </a:p>
          <a:p>
            <a:pPr marL="971550" lvl="1" indent="-514350">
              <a:buFont typeface="+mj-lt"/>
              <a:buAutoNum type="romanUcPeriod"/>
            </a:pPr>
            <a:r>
              <a:rPr lang="fr-FR" sz="3200" dirty="0" smtClean="0"/>
              <a:t> Comment avoir des nouvelles de notre rapport envoyé pour validation ?</a:t>
            </a:r>
          </a:p>
          <a:p>
            <a:pPr marL="971550" lvl="1" indent="-514350">
              <a:buFont typeface="+mj-lt"/>
              <a:buAutoNum type="romanUcPeriod"/>
            </a:pPr>
            <a:r>
              <a:rPr lang="fr-FR" sz="3200" dirty="0" smtClean="0"/>
              <a:t> Remarques</a:t>
            </a:r>
            <a:endParaRPr lang="fr-FR" sz="3200" dirty="0"/>
          </a:p>
          <a:p>
            <a:pPr marL="971550" lvl="1" indent="-514350">
              <a:buFont typeface="+mj-lt"/>
              <a:buAutoNum type="romanUcPeriod"/>
            </a:pPr>
            <a:r>
              <a:rPr lang="fr-FR" sz="3200" dirty="0" smtClean="0"/>
              <a:t> Comment la plateforme fonctionne ?</a:t>
            </a:r>
          </a:p>
          <a:p>
            <a:pPr marL="971550" lvl="1" indent="-514350">
              <a:buFont typeface="+mj-lt"/>
              <a:buAutoNum type="romanUcPeriod"/>
            </a:pPr>
            <a:r>
              <a:rPr lang="fr-FR" sz="3200" dirty="0" smtClean="0"/>
              <a:t> Simulation</a:t>
            </a:r>
          </a:p>
          <a:p>
            <a:pPr marL="514350" indent="-514350">
              <a:buFont typeface="+mj-lt"/>
              <a:buAutoNum type="romanUcPeriod"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79217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marL="857250" indent="-857250">
              <a:buFont typeface="+mj-lt"/>
              <a:buAutoNum type="romanUcPeriod"/>
            </a:pPr>
            <a:r>
              <a:rPr lang="fr-FR" sz="4400" dirty="0" err="1"/>
              <a:t>OpenKM</a:t>
            </a:r>
            <a:r>
              <a:rPr lang="fr-FR" sz="4400" dirty="0"/>
              <a:t>, c’est quoi?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1384827"/>
              </p:ext>
            </p:extLst>
          </p:nvPr>
        </p:nvGraphicFramePr>
        <p:xfrm>
          <a:off x="638629" y="1770743"/>
          <a:ext cx="7750628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8926286" y="3236685"/>
            <a:ext cx="227443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dirty="0"/>
              <a:t>Automatisé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dirty="0" smtClean="0"/>
              <a:t>Rapidité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dirty="0" smtClean="0"/>
              <a:t>Fiabilité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dirty="0" smtClean="0"/>
              <a:t>Impartialité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800" dirty="0" smtClean="0"/>
              <a:t>Traçabilité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7939314" y="1815179"/>
            <a:ext cx="39333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dirty="0" smtClean="0"/>
              <a:t>Logiciel informatique de collecte et de gestion des documents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fr-FR" dirty="0" smtClean="0"/>
              <a:t>Comment ENVOYER NOTRE RAPPORT A L’ARSM en 02 étapes ?</a:t>
            </a:r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1141412" y="1871041"/>
            <a:ext cx="10092644" cy="26327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fr-FR" dirty="0" smtClean="0"/>
              <a:t>Etape 1: Ajout de rapport</a:t>
            </a:r>
          </a:p>
          <a:p>
            <a:pPr>
              <a:lnSpc>
                <a:spcPct val="200000"/>
              </a:lnSpc>
            </a:pPr>
            <a:r>
              <a:rPr lang="fr-FR" dirty="0" smtClean="0"/>
              <a:t>ETAPE 2: dépôt de rapport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4768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fr-FR" dirty="0" smtClean="0"/>
              <a:t>Comment ENVOYER NOTRE RAPPORT A L’ARSM en 02 étapes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2871940"/>
            <a:ext cx="10568367" cy="3528859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2600" dirty="0"/>
              <a:t>Se trouver sur le « Bureau », 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600" dirty="0" smtClean="0"/>
              <a:t>Sélectionner un dossier parent,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600" dirty="0" smtClean="0"/>
              <a:t>Cliquer </a:t>
            </a:r>
            <a:r>
              <a:rPr lang="fr-FR" sz="2600" dirty="0"/>
              <a:t>sur </a:t>
            </a:r>
            <a:r>
              <a:rPr lang="fr-FR" sz="2600" dirty="0" smtClean="0"/>
              <a:t>«</a:t>
            </a:r>
            <a:r>
              <a:rPr lang="fr-FR" sz="2600" dirty="0"/>
              <a:t> Fichier » sur le </a:t>
            </a:r>
            <a:r>
              <a:rPr lang="fr-FR" sz="2600" dirty="0" smtClean="0"/>
              <a:t>menu puis </a:t>
            </a:r>
            <a:r>
              <a:rPr lang="fr-FR" sz="2600" dirty="0"/>
              <a:t>choisir « Ajouter </a:t>
            </a:r>
            <a:r>
              <a:rPr lang="fr-FR" sz="2600" dirty="0" smtClean="0"/>
              <a:t>un document </a:t>
            </a:r>
            <a:r>
              <a:rPr lang="fr-FR" sz="2600" dirty="0"/>
              <a:t>» /</a:t>
            </a:r>
          </a:p>
          <a:p>
            <a:pPr marL="0" indent="0">
              <a:buNone/>
            </a:pPr>
            <a:r>
              <a:rPr lang="fr-FR" sz="2600" dirty="0" smtClean="0"/>
              <a:t>      Faire </a:t>
            </a:r>
            <a:r>
              <a:rPr lang="fr-FR" sz="2600" dirty="0"/>
              <a:t>un clic droit sur le dossier parent et choisir « Ajouter </a:t>
            </a:r>
            <a:r>
              <a:rPr lang="fr-FR" sz="2600" dirty="0" smtClean="0"/>
              <a:t>un document </a:t>
            </a:r>
            <a:r>
              <a:rPr lang="fr-FR" sz="2600" dirty="0"/>
              <a:t>» /</a:t>
            </a:r>
            <a:endParaRPr lang="fr-FR" sz="2600" dirty="0" smtClean="0"/>
          </a:p>
          <a:p>
            <a:pPr marL="0" indent="0">
              <a:buNone/>
            </a:pPr>
            <a:r>
              <a:rPr lang="fr-FR" sz="2600" dirty="0" smtClean="0"/>
              <a:t>      Cliquer </a:t>
            </a:r>
            <a:r>
              <a:rPr lang="fr-FR" sz="2600" dirty="0"/>
              <a:t>sur l’icône «   </a:t>
            </a:r>
            <a:r>
              <a:rPr lang="fr-FR" sz="2600" dirty="0" smtClean="0"/>
              <a:t>   » </a:t>
            </a:r>
            <a:r>
              <a:rPr lang="fr-FR" sz="2600" dirty="0"/>
              <a:t>de la barre des outils</a:t>
            </a:r>
            <a:r>
              <a:rPr lang="fr-FR" sz="2600" dirty="0" smtClean="0"/>
              <a:t>.</a:t>
            </a:r>
            <a:endParaRPr lang="fr-FR" sz="2600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1141412" y="1393370"/>
            <a:ext cx="10092644" cy="1320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Etape 1: Ajout de rapport</a:t>
            </a:r>
            <a:endParaRPr lang="fr-FR" dirty="0"/>
          </a:p>
        </p:txBody>
      </p:sp>
      <p:pic>
        <p:nvPicPr>
          <p:cNvPr id="2049" name="image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17145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10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7144" y="5249515"/>
            <a:ext cx="430516" cy="46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4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image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17145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655" y="27296"/>
            <a:ext cx="6987655" cy="680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884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fr-FR" dirty="0" smtClean="0"/>
              <a:t>Comment ENVOYER NOTRE RAPPORT A L’ARSM en 02 étapes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624084"/>
            <a:ext cx="9905999" cy="4573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 smtClean="0"/>
              <a:t>Une fenêtre va automatiquement s’ouvrir: (option 1: filtre cochée)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923" y="2197075"/>
            <a:ext cx="780097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80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fr-FR" dirty="0" smtClean="0"/>
              <a:t>Comment ENVOYER NOTRE RAPPORT A L’ARSM en 02 étapes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624084"/>
            <a:ext cx="9905999" cy="4573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 smtClean="0"/>
              <a:t>Une fenêtre va automatiquement s’ouvrir: (option 2: filtre décochée)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97" y="2233895"/>
            <a:ext cx="7794428" cy="44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78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  <a:ln>
            <a:solidFill>
              <a:srgbClr val="FFFF00"/>
            </a:solidFill>
          </a:ln>
        </p:spPr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fr-FR" dirty="0" smtClean="0"/>
              <a:t>Comment ENVOYER NOTRE RAPPORT A L’ARSM en 02 étapes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3" y="1778108"/>
            <a:ext cx="9905999" cy="4455886"/>
          </a:xfrm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fr-FR" sz="3000" dirty="0" smtClean="0"/>
              <a:t>Sélectionner le type de rapport (mensuel, trimestriel, annuel, autres)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fr-FR" sz="3000" dirty="0" smtClean="0"/>
              <a:t>Modifier la période du rapport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fr-FR" sz="3000" dirty="0" smtClean="0"/>
              <a:t>Choisir le fichier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fr-FR" sz="3000" dirty="0" smtClean="0"/>
              <a:t>A la case « Avertir les utilisateurs » , choisir </a:t>
            </a:r>
            <a:r>
              <a:rPr lang="fr-FR" sz="3000" dirty="0" smtClean="0"/>
              <a:t>l</a:t>
            </a:r>
            <a:r>
              <a:rPr lang="fr-FR" sz="3000" dirty="0" smtClean="0"/>
              <a:t>e ou les responsable(s) ARSM à avertir</a:t>
            </a:r>
            <a:endParaRPr lang="fr-FR" sz="3000" dirty="0" smtClean="0"/>
          </a:p>
          <a:p>
            <a:pPr marL="514350" indent="-514350">
              <a:buFont typeface="+mj-lt"/>
              <a:buAutoNum type="arabicPeriod" startAt="8"/>
            </a:pPr>
            <a:r>
              <a:rPr lang="fr-FR" sz="3000" dirty="0" smtClean="0"/>
              <a:t>Envoyer</a:t>
            </a:r>
            <a:endParaRPr lang="fr-FR" sz="3000" dirty="0" smtClean="0"/>
          </a:p>
        </p:txBody>
      </p:sp>
    </p:spTree>
    <p:extLst>
      <p:ext uri="{BB962C8B-B14F-4D97-AF65-F5344CB8AC3E}">
        <p14:creationId xmlns:p14="http://schemas.microsoft.com/office/powerpoint/2010/main" val="25639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  <a:ln>
            <a:solidFill>
              <a:srgbClr val="FFFF00"/>
            </a:solidFill>
          </a:ln>
        </p:spPr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fr-FR" dirty="0" smtClean="0"/>
              <a:t>Comment ENVOYER NOTRE RAPPORT A L’ARSM en 02 étapes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624084"/>
            <a:ext cx="9905999" cy="4573515"/>
          </a:xfrm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 smtClean="0"/>
              <a:t>Les différents types de document pour les SFD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308" y="2233895"/>
            <a:ext cx="3534981" cy="391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42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fr-FR" dirty="0" smtClean="0"/>
              <a:t>Comment ENVOYER NOTRE RAPPORT A L’ARSM en 02 étapes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2361062"/>
            <a:ext cx="10554719" cy="449693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2500" dirty="0"/>
              <a:t>Se trouver sur le « Bureau », </a:t>
            </a:r>
            <a:endParaRPr lang="fr-FR" sz="2500" dirty="0" smtClean="0"/>
          </a:p>
          <a:p>
            <a:pPr marL="514350" indent="-514350">
              <a:buFont typeface="+mj-lt"/>
              <a:buAutoNum type="arabicPeriod"/>
            </a:pPr>
            <a:r>
              <a:rPr lang="fr-FR" sz="2500" dirty="0"/>
              <a:t>S</a:t>
            </a:r>
            <a:r>
              <a:rPr lang="fr-FR" sz="2500" dirty="0" smtClean="0"/>
              <a:t>électionner </a:t>
            </a:r>
            <a:r>
              <a:rPr lang="fr-FR" sz="2500" dirty="0"/>
              <a:t>le dossier </a:t>
            </a:r>
            <a:r>
              <a:rPr lang="fr-FR" sz="2500" dirty="0" smtClean="0"/>
              <a:t>parent,</a:t>
            </a:r>
            <a:endParaRPr lang="fr-FR" sz="2500" dirty="0"/>
          </a:p>
          <a:p>
            <a:pPr marL="514350" indent="-514350">
              <a:buFont typeface="+mj-lt"/>
              <a:buAutoNum type="arabicPeriod"/>
            </a:pPr>
            <a:r>
              <a:rPr lang="fr-FR" sz="2500" dirty="0"/>
              <a:t>Sélectionner le document concerné,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500" dirty="0"/>
              <a:t>Cliquez sur l'icône de démarrage du flux de travail «        </a:t>
            </a:r>
            <a:r>
              <a:rPr lang="fr-FR" sz="2500" dirty="0" smtClean="0"/>
              <a:t>» / </a:t>
            </a:r>
          </a:p>
          <a:p>
            <a:pPr marL="0" indent="0">
              <a:buNone/>
            </a:pPr>
            <a:r>
              <a:rPr lang="fr-FR" sz="2500" dirty="0"/>
              <a:t> </a:t>
            </a:r>
            <a:r>
              <a:rPr lang="fr-FR" sz="2500" dirty="0" smtClean="0"/>
              <a:t>     </a:t>
            </a:r>
            <a:r>
              <a:rPr lang="fr-FR" sz="2500" dirty="0"/>
              <a:t>S</a:t>
            </a:r>
            <a:r>
              <a:rPr lang="fr-FR" sz="2500" dirty="0" smtClean="0"/>
              <a:t>électionner </a:t>
            </a:r>
            <a:r>
              <a:rPr lang="fr-FR" sz="2500" dirty="0"/>
              <a:t>« Démarrer le flux de travail » dans le Menu puis dans Fichier</a:t>
            </a:r>
            <a:endParaRPr lang="fr-FR" sz="2500" dirty="0" smtClean="0"/>
          </a:p>
          <a:p>
            <a:pPr marL="0" indent="0">
              <a:buNone/>
            </a:pPr>
            <a:endParaRPr lang="fr-FR" sz="1000" dirty="0" smtClean="0"/>
          </a:p>
          <a:p>
            <a:pPr marL="0" indent="0">
              <a:buNone/>
            </a:pPr>
            <a:r>
              <a:rPr lang="fr-FR" sz="2500" dirty="0" smtClean="0"/>
              <a:t>Une </a:t>
            </a:r>
            <a:r>
              <a:rPr lang="fr-FR" sz="2500" dirty="0"/>
              <a:t>fenêtre s’affichera automatiquement puis :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fr-FR" sz="2500" dirty="0"/>
              <a:t>Sélectionner « </a:t>
            </a:r>
            <a:r>
              <a:rPr lang="fr-FR" sz="2500" dirty="0" err="1" smtClean="0"/>
              <a:t>Depot_de_rapport</a:t>
            </a:r>
            <a:r>
              <a:rPr lang="fr-FR" sz="2500" dirty="0" smtClean="0"/>
              <a:t> »</a:t>
            </a: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1141412" y="1393370"/>
            <a:ext cx="10092644" cy="1131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Etape 2: dépôt de rapport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287" y="3977093"/>
            <a:ext cx="578230" cy="56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fr-FR" dirty="0" smtClean="0"/>
              <a:t>Comment ENVOYER NOTRE RAPPORT A L’ARSM en 02 étapes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596788"/>
            <a:ext cx="9905999" cy="512332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fr-FR" sz="2800" dirty="0" smtClean="0"/>
              <a:t>Cliquer </a:t>
            </a:r>
            <a:r>
              <a:rPr lang="fr-FR" sz="2800" dirty="0"/>
              <a:t>sur « Démarrer </a:t>
            </a:r>
            <a:r>
              <a:rPr lang="fr-FR" sz="2800" dirty="0" smtClean="0"/>
              <a:t>»,</a:t>
            </a:r>
          </a:p>
          <a:p>
            <a:pPr marL="514350" indent="-514350">
              <a:buFont typeface="+mj-lt"/>
              <a:buAutoNum type="arabicPeriod" startAt="6"/>
            </a:pPr>
            <a:endParaRPr lang="fr-FR" sz="2800" dirty="0" smtClean="0"/>
          </a:p>
          <a:p>
            <a:pPr marL="514350" indent="-514350">
              <a:buFont typeface="+mj-lt"/>
              <a:buAutoNum type="arabicPeriod" startAt="6"/>
            </a:pPr>
            <a:endParaRPr lang="fr-FR" sz="2800" dirty="0"/>
          </a:p>
          <a:p>
            <a:pPr marL="514350" indent="-514350">
              <a:buFont typeface="+mj-lt"/>
              <a:buAutoNum type="arabicPeriod" startAt="6"/>
            </a:pPr>
            <a:endParaRPr lang="fr-FR" sz="2800" dirty="0" smtClean="0"/>
          </a:p>
          <a:p>
            <a:pPr marL="514350" indent="-514350">
              <a:buFont typeface="+mj-lt"/>
              <a:buAutoNum type="arabicPeriod" startAt="6"/>
            </a:pPr>
            <a:endParaRPr lang="fr-FR" sz="2800" dirty="0" smtClean="0"/>
          </a:p>
          <a:p>
            <a:pPr marL="514350" indent="-514350">
              <a:buFont typeface="+mj-lt"/>
              <a:buAutoNum type="arabicPeriod" startAt="6"/>
            </a:pPr>
            <a:r>
              <a:rPr lang="fr-FR" sz="2800" dirty="0"/>
              <a:t>Se trouver sur l’affichage du « Tableau de Bord </a:t>
            </a:r>
            <a:r>
              <a:rPr lang="fr-FR" sz="2800" dirty="0" smtClean="0"/>
              <a:t>»,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fr-FR" sz="2800" dirty="0" smtClean="0"/>
              <a:t> </a:t>
            </a:r>
            <a:r>
              <a:rPr lang="fr-FR" sz="2800" dirty="0"/>
              <a:t>Afficher la fonction « Processus </a:t>
            </a:r>
            <a:r>
              <a:rPr lang="fr-FR" sz="2800" dirty="0" smtClean="0"/>
              <a:t>»,</a:t>
            </a:r>
            <a:endParaRPr lang="fr-FR" sz="2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31" y="2397539"/>
            <a:ext cx="10872016" cy="217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fr-FR" dirty="0" smtClean="0"/>
              <a:t>Comment ENVOYER NOTRE RAPPORT A L’ARSM en 02 étapes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556929"/>
            <a:ext cx="9905999" cy="65400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 startAt="8"/>
            </a:pPr>
            <a:r>
              <a:rPr lang="fr-FR" sz="3000" dirty="0" smtClean="0"/>
              <a:t>Sélectionner </a:t>
            </a:r>
            <a:r>
              <a:rPr lang="fr-FR" sz="3000" dirty="0"/>
              <a:t>le document </a:t>
            </a:r>
            <a:r>
              <a:rPr lang="fr-FR" sz="3000" dirty="0" smtClean="0"/>
              <a:t>dans « Tâches en attente »,</a:t>
            </a:r>
            <a:endParaRPr lang="fr-FR" sz="30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 startAt="8"/>
            </a:pPr>
            <a:endParaRPr lang="fr-FR" sz="3000" dirty="0" smtClean="0"/>
          </a:p>
          <a:p>
            <a:pPr marL="514350" indent="-514350">
              <a:buFont typeface="+mj-lt"/>
              <a:buAutoNum type="arabicPeriod" startAt="4"/>
            </a:pPr>
            <a:endParaRPr lang="fr-FR" sz="3000" dirty="0" smtClean="0"/>
          </a:p>
          <a:p>
            <a:pPr marL="0" indent="0">
              <a:buNone/>
            </a:pPr>
            <a:endParaRPr lang="fr-FR" sz="3000" dirty="0"/>
          </a:p>
        </p:txBody>
      </p:sp>
      <p:pic>
        <p:nvPicPr>
          <p:cNvPr id="6" name="Imag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837" y="2101399"/>
            <a:ext cx="8320902" cy="468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822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fr-FR" dirty="0" smtClean="0"/>
              <a:t>Comment ENVOYER NOTRE RAPPORT A L’ARSM en 02 étapes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3" y="2004260"/>
            <a:ext cx="9905999" cy="3077036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fr-FR" sz="3200" dirty="0" smtClean="0"/>
              <a:t>Ajouter </a:t>
            </a:r>
            <a:r>
              <a:rPr lang="fr-FR" sz="3200" dirty="0"/>
              <a:t>des commentaires si </a:t>
            </a:r>
            <a:r>
              <a:rPr lang="fr-FR" sz="3200" dirty="0" smtClean="0"/>
              <a:t>besoin,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fr-FR" sz="3200" dirty="0"/>
              <a:t> </a:t>
            </a:r>
            <a:r>
              <a:rPr lang="fr-FR" sz="3200" dirty="0" smtClean="0"/>
              <a:t>Choisir l’utilisateur </a:t>
            </a:r>
            <a:r>
              <a:rPr lang="fr-FR" sz="3200" dirty="0"/>
              <a:t>ARSM </a:t>
            </a:r>
            <a:r>
              <a:rPr lang="fr-FR" sz="3200" dirty="0" smtClean="0"/>
              <a:t>approprié dans la liste déroulante,</a:t>
            </a:r>
            <a:endParaRPr lang="fr-FR" sz="3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fr-FR" sz="3200" dirty="0" smtClean="0"/>
              <a:t> Envoyer </a:t>
            </a:r>
            <a:r>
              <a:rPr lang="fr-FR" sz="3200" dirty="0"/>
              <a:t>le document (à l’ARSM)</a:t>
            </a:r>
          </a:p>
        </p:txBody>
      </p:sp>
    </p:spTree>
    <p:extLst>
      <p:ext uri="{BB962C8B-B14F-4D97-AF65-F5344CB8AC3E}">
        <p14:creationId xmlns:p14="http://schemas.microsoft.com/office/powerpoint/2010/main" val="139463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fr-FR" dirty="0"/>
              <a:t>Que faire si notre rapport a été refusé ?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887104" y="1843745"/>
            <a:ext cx="10522423" cy="2523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Etape 1: LECTURE DES COMMENTAIRES ET ARCHIVAGE 	DU RAPPORT</a:t>
            </a:r>
          </a:p>
          <a:p>
            <a:endParaRPr lang="fr-FR" dirty="0" smtClean="0"/>
          </a:p>
          <a:p>
            <a:r>
              <a:rPr lang="fr-FR" dirty="0" smtClean="0"/>
              <a:t>Etape 2: SOUMISSION D’UN NOUVEAU RAPPORT 	(AJOUT ET Dépôt: même méthode que précédent)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376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fr-FR" dirty="0"/>
              <a:t>Que faire si notre rapport a été refusé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3" y="2877719"/>
            <a:ext cx="9905999" cy="3345659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 smtClean="0"/>
              <a:t>Entrer </a:t>
            </a:r>
            <a:r>
              <a:rPr lang="fr-FR" sz="2800" dirty="0"/>
              <a:t>dans son Tableau de Bord,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 smtClean="0"/>
              <a:t>Choisir </a:t>
            </a:r>
            <a:r>
              <a:rPr lang="fr-FR" sz="2800" dirty="0"/>
              <a:t>l’option « Processus </a:t>
            </a:r>
            <a:r>
              <a:rPr lang="fr-FR" sz="2800" dirty="0" smtClean="0"/>
              <a:t>»,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Cliquer sur le commentaire à recevoir en attente</a:t>
            </a:r>
            <a:r>
              <a:rPr lang="fr-FR" sz="2800" dirty="0" smtClean="0"/>
              <a:t>,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/>
              <a:t>Ajouter un dernier commentaire, s’il y a lieu</a:t>
            </a:r>
            <a:r>
              <a:rPr lang="fr-FR" sz="2800" dirty="0" smtClean="0"/>
              <a:t>,</a:t>
            </a:r>
            <a:endParaRPr lang="fr-FR" sz="2800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1412" y="1393370"/>
            <a:ext cx="10390946" cy="1131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Etape 1: LECTURE DES COMMENTAIRES ET ARCHIVAGE DU RAPPORT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313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fr-FR" dirty="0"/>
              <a:t>Que faire si notre rapport a été refusé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3" y="1432896"/>
            <a:ext cx="9905999" cy="4149038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fr-FR" sz="2800" dirty="0" smtClean="0"/>
              <a:t>Cliquer sur « Archiver »</a:t>
            </a:r>
            <a:endParaRPr lang="fr-FR" sz="2800" dirty="0"/>
          </a:p>
        </p:txBody>
      </p:sp>
      <p:pic>
        <p:nvPicPr>
          <p:cNvPr id="5" name="Imag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272" y="2116416"/>
            <a:ext cx="8381764" cy="468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887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4"/>
            </a:pPr>
            <a:r>
              <a:rPr lang="fr-FR" dirty="0"/>
              <a:t>Comment avoir des nouvelles de notre rapport envoyé pour validation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3" y="1787736"/>
            <a:ext cx="9905999" cy="41490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800" dirty="0">
                <a:sym typeface="Wingdings 2" panose="05020102010507070707" pitchFamily="18" charset="2"/>
              </a:rPr>
              <a:t> </a:t>
            </a:r>
            <a:r>
              <a:rPr lang="fr-FR" sz="2800" dirty="0" smtClean="0"/>
              <a:t>NOTIFICATIONS: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 smtClean="0"/>
              <a:t>Par courriel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 smtClean="0"/>
              <a:t>Sur la barre d’état de la plateforme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 smtClean="0"/>
              <a:t>Dans le Tableau de Bord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58764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4"/>
            </a:pPr>
            <a:r>
              <a:rPr lang="fr-FR" dirty="0"/>
              <a:t>Comment avoir des nouvelles de notre rapport envoyé pour validation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3" y="1353400"/>
            <a:ext cx="9905999" cy="405350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 smtClean="0"/>
              <a:t>Par courriel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800" dirty="0" smtClean="0"/>
              <a:t>Acceptation du rapport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800" dirty="0"/>
          </a:p>
          <a:p>
            <a:pPr marL="0" indent="0">
              <a:lnSpc>
                <a:spcPct val="150000"/>
              </a:lnSpc>
              <a:buNone/>
            </a:pPr>
            <a:endParaRPr lang="fr-FR" sz="2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fr-FR" sz="2800" dirty="0" smtClean="0"/>
              <a:t>Refus du rapport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800" dirty="0" smtClean="0"/>
          </a:p>
        </p:txBody>
      </p:sp>
      <p:pic>
        <p:nvPicPr>
          <p:cNvPr id="4" name="Imag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559" y="2766012"/>
            <a:ext cx="5730875" cy="1701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558" y="5068330"/>
            <a:ext cx="5730875" cy="17437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32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4"/>
            </a:pPr>
            <a:r>
              <a:rPr lang="fr-FR" dirty="0"/>
              <a:t>Comment avoir des nouvelles de notre rapport envoyé pour validation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3" y="1787736"/>
            <a:ext cx="9905999" cy="4149038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fr-FR" sz="2800" dirty="0" smtClean="0"/>
              <a:t>Sur la barre d’état de la plateforme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719" y="2604954"/>
            <a:ext cx="7813636" cy="3600000"/>
          </a:xfrm>
          <a:prstGeom prst="rect">
            <a:avLst/>
          </a:prstGeom>
        </p:spPr>
      </p:pic>
      <p:pic>
        <p:nvPicPr>
          <p:cNvPr id="3078" name="Image 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71475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Image 7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Image 4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950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Image 4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4800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Image 4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Image 5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191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64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10092644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4"/>
            </a:pPr>
            <a:r>
              <a:rPr lang="fr-FR" dirty="0"/>
              <a:t>Comment avoir des nouvelles de notre rapport envoyé pour validation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3" y="1787736"/>
            <a:ext cx="9905999" cy="4149038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fr-FR" sz="2800" dirty="0" smtClean="0"/>
              <a:t>Dans le Tableau de Bord</a:t>
            </a:r>
            <a:endParaRPr lang="fr-FR" sz="2800" dirty="0"/>
          </a:p>
        </p:txBody>
      </p:sp>
      <p:pic>
        <p:nvPicPr>
          <p:cNvPr id="4" name="Imag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305" y="2611088"/>
            <a:ext cx="9439107" cy="33256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045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9905998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5"/>
            </a:pPr>
            <a:r>
              <a:rPr lang="fr-FR" dirty="0" smtClean="0"/>
              <a:t>remarques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175660"/>
            <a:ext cx="10121674" cy="5050971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fr-FR" sz="2800" dirty="0" err="1" smtClean="0"/>
              <a:t>OpenKM</a:t>
            </a:r>
            <a:r>
              <a:rPr lang="fr-FR" sz="2800" dirty="0" smtClean="0"/>
              <a:t> enverra automatiquement des emails de rappel pour le dépôt d’un rapport 3 jours avant le deadline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0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fr-FR" sz="2800" dirty="0" err="1"/>
              <a:t>OpenKM</a:t>
            </a:r>
            <a:r>
              <a:rPr lang="fr-FR" sz="2800" dirty="0"/>
              <a:t> enverra </a:t>
            </a:r>
            <a:r>
              <a:rPr lang="fr-FR" sz="2800" dirty="0" smtClean="0"/>
              <a:t>également un email </a:t>
            </a:r>
            <a:r>
              <a:rPr lang="fr-FR" sz="2800" dirty="0"/>
              <a:t>de </a:t>
            </a:r>
            <a:r>
              <a:rPr lang="fr-FR" sz="2800" dirty="0" smtClean="0"/>
              <a:t>dépôt tardif d’un rapport, indiquant à l’utilisateur au sein d’un SFD le nombre de jour de retard </a:t>
            </a:r>
            <a:endParaRPr lang="fr-FR" sz="28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64" y="2068884"/>
            <a:ext cx="5568722" cy="1661287"/>
          </a:xfrm>
          <a:prstGeom prst="rect">
            <a:avLst/>
          </a:prstGeom>
        </p:spPr>
      </p:pic>
      <p:pic>
        <p:nvPicPr>
          <p:cNvPr id="8" name="Imag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364" y="4699692"/>
            <a:ext cx="5771922" cy="2034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091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9905998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5"/>
            </a:pPr>
            <a:r>
              <a:rPr lang="fr-FR" dirty="0" smtClean="0"/>
              <a:t>remarques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487488"/>
            <a:ext cx="10295845" cy="5077085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 startAt="3"/>
            </a:pPr>
            <a:r>
              <a:rPr lang="fr-FR" sz="2800" dirty="0"/>
              <a:t>Un utilisateur au sein d’un SFD peut consulter ses rapports en </a:t>
            </a:r>
            <a:r>
              <a:rPr lang="fr-FR" sz="2800" dirty="0" smtClean="0"/>
              <a:t>retard  </a:t>
            </a:r>
            <a:r>
              <a:rPr lang="fr-FR" sz="2800" dirty="0"/>
              <a:t>dans son tableau de bord.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sz="2800" dirty="0"/>
              <a:t>Le type de rapport, la période et le nombre de jours de retards y sont </a:t>
            </a:r>
            <a:r>
              <a:rPr lang="fr-FR" sz="2800" dirty="0" smtClean="0"/>
              <a:t>renseignés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 startAt="4"/>
            </a:pPr>
            <a:endParaRPr lang="fr-FR" sz="28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 startAt="4"/>
            </a:pPr>
            <a:r>
              <a:rPr lang="fr-FR" sz="2800" dirty="0" smtClean="0"/>
              <a:t>Un </a:t>
            </a:r>
            <a:r>
              <a:rPr lang="fr-FR" sz="2800" dirty="0"/>
              <a:t>utilisateur SFD ne peut ajouter un document que dans le (s) dossier(s) que l’Administrateur lui a assigné(s</a:t>
            </a:r>
            <a:r>
              <a:rPr lang="fr-FR" sz="2800" dirty="0" smtClean="0"/>
              <a:t>)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 startAt="4"/>
            </a:pPr>
            <a:endParaRPr lang="fr-FR" sz="28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 startAt="4"/>
            </a:pPr>
            <a:r>
              <a:rPr lang="fr-FR" sz="2800" dirty="0" smtClean="0"/>
              <a:t>Un rapport ne peut être envoyé à l’ARSM que si son statut est « Disponible  »</a:t>
            </a:r>
          </a:p>
        </p:txBody>
      </p:sp>
    </p:spTree>
    <p:extLst>
      <p:ext uri="{BB962C8B-B14F-4D97-AF65-F5344CB8AC3E}">
        <p14:creationId xmlns:p14="http://schemas.microsoft.com/office/powerpoint/2010/main" val="222585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3200" dirty="0"/>
              <a:t> </a:t>
            </a:r>
            <a:r>
              <a:rPr lang="fr-FR" sz="3200" dirty="0" smtClean="0"/>
              <a:t>Authentification</a:t>
            </a:r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6" name="Image 5"/>
          <p:cNvPicPr/>
          <p:nvPr/>
        </p:nvPicPr>
        <p:blipFill>
          <a:blip r:embed="rId2"/>
          <a:stretch>
            <a:fillRect/>
          </a:stretch>
        </p:blipFill>
        <p:spPr>
          <a:xfrm>
            <a:off x="5691414" y="1662068"/>
            <a:ext cx="4489815" cy="50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7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49828"/>
            <a:ext cx="10121674" cy="505097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sz="2800" dirty="0" smtClean="0"/>
              <a:t>Si l’utilisateur oublie son mot de passe lors de l’authentification, un clic sur « Réinitialiser le mot de passe » enverra automatiquement un nouveau mot de passe via sa boîte email.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 smtClean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fr-FR" sz="2800" dirty="0"/>
          </a:p>
        </p:txBody>
      </p:sp>
      <p:pic>
        <p:nvPicPr>
          <p:cNvPr id="5" name="Imag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601" y="3614057"/>
            <a:ext cx="6465320" cy="216262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lèche droite 7"/>
          <p:cNvSpPr/>
          <p:nvPr/>
        </p:nvSpPr>
        <p:spPr>
          <a:xfrm>
            <a:off x="4738587" y="4528455"/>
            <a:ext cx="537029" cy="464457"/>
          </a:xfrm>
          <a:prstGeom prst="rightArrow">
            <a:avLst/>
          </a:prstGeom>
          <a:solidFill>
            <a:schemeClr val="tx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/>
          <p:cNvPicPr/>
          <p:nvPr/>
        </p:nvPicPr>
        <p:blipFill>
          <a:blip r:embed="rId3"/>
          <a:stretch>
            <a:fillRect/>
          </a:stretch>
        </p:blipFill>
        <p:spPr>
          <a:xfrm>
            <a:off x="1370209" y="2828398"/>
            <a:ext cx="3188143" cy="377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9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re 1"/>
          <p:cNvSpPr>
            <a:spLocks noGrp="1"/>
          </p:cNvSpPr>
          <p:nvPr>
            <p:ph type="title"/>
          </p:nvPr>
        </p:nvSpPr>
        <p:spPr>
          <a:xfrm>
            <a:off x="1141413" y="371249"/>
            <a:ext cx="9905998" cy="841792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fr-FR" sz="3200" dirty="0"/>
              <a:t> </a:t>
            </a:r>
            <a:r>
              <a:rPr lang="fr-FR" sz="3200" dirty="0" smtClean="0"/>
              <a:t>Déconnexion</a:t>
            </a:r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087" y="1642617"/>
            <a:ext cx="4655173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6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35093"/>
            <a:ext cx="9905999" cy="354171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fr-FR" sz="3200" dirty="0"/>
              <a:t> </a:t>
            </a:r>
            <a:r>
              <a:rPr lang="fr-FR" sz="3200" dirty="0" smtClean="0"/>
              <a:t>Page d’accueil du bureau</a:t>
            </a:r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5" name="Imag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258" y="1954037"/>
            <a:ext cx="9180000" cy="468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228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51492" y="1335092"/>
            <a:ext cx="11263086" cy="5385021"/>
          </a:xfrm>
        </p:spPr>
        <p:txBody>
          <a:bodyPr>
            <a:normAutofit fontScale="92500" lnSpcReduction="20000"/>
          </a:bodyPr>
          <a:lstStyle/>
          <a:p>
            <a:pPr marL="571500" indent="-571500">
              <a:buFont typeface="+mj-lt"/>
              <a:buAutoNum type="romanLcPeriod"/>
            </a:pPr>
            <a:r>
              <a:rPr lang="fr-FR" sz="3000" b="1" dirty="0" smtClean="0"/>
              <a:t>Le menu: </a:t>
            </a:r>
            <a:r>
              <a:rPr lang="fr-FR" sz="2800" dirty="0" smtClean="0"/>
              <a:t>Affiche </a:t>
            </a:r>
            <a:r>
              <a:rPr lang="fr-FR" sz="2800" dirty="0"/>
              <a:t>les </a:t>
            </a:r>
            <a:r>
              <a:rPr lang="fr-FR" sz="2800" dirty="0" smtClean="0"/>
              <a:t>principales fonctionnalités que permettent </a:t>
            </a:r>
            <a:r>
              <a:rPr lang="fr-FR" sz="2800" dirty="0" err="1" smtClean="0"/>
              <a:t>OpenKM</a:t>
            </a:r>
            <a:endParaRPr lang="fr-FR" sz="2800" dirty="0" smtClean="0"/>
          </a:p>
          <a:p>
            <a:pPr marL="571500" indent="-571500">
              <a:buFont typeface="+mj-lt"/>
              <a:buAutoNum type="romanLcPeriod"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r>
              <a:rPr lang="fr-FR" sz="3000" b="1" dirty="0" smtClean="0"/>
              <a:t>La </a:t>
            </a:r>
            <a:r>
              <a:rPr lang="fr-FR" sz="3000" b="1" dirty="0"/>
              <a:t>barre de recherche </a:t>
            </a:r>
            <a:r>
              <a:rPr lang="fr-FR" sz="3000" b="1" dirty="0" smtClean="0"/>
              <a:t>rapide</a:t>
            </a:r>
            <a:r>
              <a:rPr lang="fr-FR" sz="3000" b="1" dirty="0"/>
              <a:t>: </a:t>
            </a:r>
            <a:r>
              <a:rPr lang="fr-FR" sz="3000" dirty="0" smtClean="0"/>
              <a:t>permet </a:t>
            </a:r>
            <a:r>
              <a:rPr lang="fr-FR" sz="3000" dirty="0"/>
              <a:t>à l’utilisateur </a:t>
            </a:r>
            <a:r>
              <a:rPr lang="fr-FR" sz="3000" dirty="0" smtClean="0"/>
              <a:t>d’effectuer </a:t>
            </a:r>
            <a:r>
              <a:rPr lang="fr-FR" sz="3000" dirty="0"/>
              <a:t>une </a:t>
            </a:r>
            <a:r>
              <a:rPr lang="fr-FR" sz="3000" dirty="0" smtClean="0"/>
              <a:t>recherche rapide par mot-clé</a:t>
            </a:r>
          </a:p>
          <a:p>
            <a:pPr marL="0" indent="0">
              <a:buNone/>
            </a:pPr>
            <a:endParaRPr lang="fr-FR" sz="3000" dirty="0"/>
          </a:p>
          <a:p>
            <a:pPr marL="571500" indent="-571500">
              <a:buFont typeface="+mj-lt"/>
              <a:buAutoNum type="romanLcPeriod" startAt="3"/>
            </a:pPr>
            <a:r>
              <a:rPr lang="fr-FR" sz="3000" b="1" dirty="0" smtClean="0"/>
              <a:t>La barre </a:t>
            </a:r>
            <a:r>
              <a:rPr lang="fr-FR" sz="3000" b="1" dirty="0"/>
              <a:t>des outils: </a:t>
            </a:r>
            <a:r>
              <a:rPr lang="fr-FR" sz="2800" dirty="0"/>
              <a:t>constituée des fonctions que l’utilisateur utilise le plus </a:t>
            </a:r>
            <a:r>
              <a:rPr lang="fr-FR" sz="2800" dirty="0" smtClean="0"/>
              <a:t>fréquemment</a:t>
            </a:r>
          </a:p>
          <a:p>
            <a:pPr marL="514350" indent="-514350">
              <a:buFont typeface="+mj-lt"/>
              <a:buAutoNum type="romanLcPeriod" startAt="3"/>
            </a:pPr>
            <a:endParaRPr lang="fr-FR" sz="2800" dirty="0" smtClean="0"/>
          </a:p>
          <a:p>
            <a:pPr marL="514350" indent="-514350">
              <a:buFont typeface="+mj-lt"/>
              <a:buAutoNum type="romanLcPeriod" startAt="3"/>
            </a:pPr>
            <a:r>
              <a:rPr lang="fr-FR" sz="3000" b="1" dirty="0" smtClean="0"/>
              <a:t> Le </a:t>
            </a:r>
            <a:r>
              <a:rPr lang="fr-FR" sz="3000" b="1" dirty="0"/>
              <a:t>chemin: </a:t>
            </a:r>
            <a:r>
              <a:rPr lang="fr-FR" sz="2800" dirty="0" smtClean="0"/>
              <a:t>Indique l’emplacement </a:t>
            </a:r>
            <a:r>
              <a:rPr lang="fr-FR" sz="2800" dirty="0"/>
              <a:t>et l’arborescence de l’espace de travail </a:t>
            </a:r>
            <a:r>
              <a:rPr lang="fr-FR" sz="2800" dirty="0" smtClean="0"/>
              <a:t>/ </a:t>
            </a:r>
            <a:r>
              <a:rPr lang="fr-FR" sz="2800" dirty="0"/>
              <a:t>du document sur lequel l’utilisateur est au temps </a:t>
            </a:r>
            <a:r>
              <a:rPr lang="fr-FR" sz="2800" dirty="0" smtClean="0"/>
              <a:t>« t »</a:t>
            </a:r>
          </a:p>
          <a:p>
            <a:pPr marL="514350" indent="-514350">
              <a:buFont typeface="+mj-lt"/>
              <a:buAutoNum type="romanLcPeriod" startAt="3"/>
            </a:pPr>
            <a:endParaRPr lang="fr-FR" sz="3000" dirty="0" smtClean="0"/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6" name="Imag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580" y="2000044"/>
            <a:ext cx="7301774" cy="428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009363" y="4855779"/>
            <a:ext cx="7156044" cy="493486"/>
          </a:xfrm>
          <a:prstGeom prst="rect">
            <a:avLst/>
          </a:prstGeom>
        </p:spPr>
      </p:pic>
      <p:pic>
        <p:nvPicPr>
          <p:cNvPr id="8" name="Image 7"/>
          <p:cNvPicPr/>
          <p:nvPr/>
        </p:nvPicPr>
        <p:blipFill>
          <a:blip r:embed="rId4"/>
          <a:stretch>
            <a:fillRect/>
          </a:stretch>
        </p:blipFill>
        <p:spPr>
          <a:xfrm>
            <a:off x="1036659" y="6348203"/>
            <a:ext cx="5545592" cy="508403"/>
          </a:xfrm>
          <a:prstGeom prst="rect">
            <a:avLst/>
          </a:prstGeom>
        </p:spPr>
      </p:pic>
      <p:pic>
        <p:nvPicPr>
          <p:cNvPr id="10" name="Image 9"/>
          <p:cNvPicPr/>
          <p:nvPr/>
        </p:nvPicPr>
        <p:blipFill>
          <a:blip r:embed="rId5"/>
          <a:stretch>
            <a:fillRect/>
          </a:stretch>
        </p:blipFill>
        <p:spPr>
          <a:xfrm>
            <a:off x="1009363" y="3454389"/>
            <a:ext cx="5545592" cy="47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5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914" y="1335092"/>
            <a:ext cx="10929257" cy="5385021"/>
          </a:xfrm>
        </p:spPr>
        <p:txBody>
          <a:bodyPr>
            <a:normAutofit/>
          </a:bodyPr>
          <a:lstStyle/>
          <a:p>
            <a:pPr marL="857250" indent="-857250">
              <a:buFont typeface="+mj-lt"/>
              <a:buAutoNum type="romanLcPeriod" startAt="5"/>
            </a:pPr>
            <a:r>
              <a:rPr lang="fr-FR" sz="3000" b="1" dirty="0" smtClean="0"/>
              <a:t>Le </a:t>
            </a:r>
            <a:r>
              <a:rPr lang="fr-FR" sz="3000" b="1" dirty="0"/>
              <a:t>panneau de navigation: </a:t>
            </a:r>
            <a:r>
              <a:rPr lang="fr-FR" sz="2800" dirty="0"/>
              <a:t>espace de travail collaboratif, où plusieurs utilisateurs modifient et partagent les données de </a:t>
            </a:r>
            <a:r>
              <a:rPr lang="fr-FR" sz="2800" dirty="0" smtClean="0"/>
              <a:t>l'entreprise</a:t>
            </a:r>
          </a:p>
          <a:p>
            <a:pPr marL="857250" indent="-857250">
              <a:buFont typeface="+mj-lt"/>
              <a:buAutoNum type="romanLcPeriod" startAt="5"/>
            </a:pPr>
            <a:endParaRPr lang="fr-FR" sz="3200" dirty="0"/>
          </a:p>
          <a:p>
            <a:pPr marL="857250" indent="-857250">
              <a:buFont typeface="+mj-lt"/>
              <a:buAutoNum type="romanLcPeriod" startAt="5"/>
            </a:pPr>
            <a:endParaRPr lang="fr-FR" sz="3200" dirty="0"/>
          </a:p>
          <a:p>
            <a:pPr marL="514350" indent="-514350">
              <a:buFont typeface="+mj-lt"/>
              <a:buAutoNum type="romanLcPeriod" startAt="5"/>
            </a:pPr>
            <a:endParaRPr lang="fr-FR" sz="3000" b="1" dirty="0" smtClean="0"/>
          </a:p>
          <a:p>
            <a:pPr marL="514350" indent="-514350">
              <a:buFont typeface="+mj-lt"/>
              <a:buAutoNum type="romanLcPeriod" startAt="5"/>
            </a:pPr>
            <a:endParaRPr lang="fr-FR" sz="3000" dirty="0" smtClean="0"/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404" y="3149373"/>
            <a:ext cx="4817884" cy="290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91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914" y="1335092"/>
            <a:ext cx="10929257" cy="5385021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LcPeriod" startAt="6"/>
            </a:pPr>
            <a:r>
              <a:rPr lang="fr-FR" sz="3000" b="1" dirty="0" smtClean="0"/>
              <a:t>Le </a:t>
            </a:r>
            <a:r>
              <a:rPr lang="fr-FR" sz="3000" b="1" dirty="0"/>
              <a:t>navigateur de </a:t>
            </a:r>
            <a:r>
              <a:rPr lang="fr-FR" sz="3000" b="1" dirty="0" smtClean="0"/>
              <a:t>documents: </a:t>
            </a:r>
            <a:r>
              <a:rPr lang="fr-FR" sz="2800" dirty="0" smtClean="0"/>
              <a:t>Affiche le contenu déterminé dans le panneau de navigation</a:t>
            </a:r>
          </a:p>
          <a:p>
            <a:pPr marL="0" indent="0">
              <a:buNone/>
            </a:pPr>
            <a:endParaRPr lang="fr-FR" sz="3200" dirty="0" smtClean="0"/>
          </a:p>
          <a:p>
            <a:pPr marL="0" indent="0">
              <a:buNone/>
            </a:pPr>
            <a:endParaRPr lang="fr-FR" sz="3200" dirty="0"/>
          </a:p>
          <a:p>
            <a:pPr marL="0" indent="0">
              <a:buNone/>
            </a:pPr>
            <a:endParaRPr lang="fr-FR" sz="3200" dirty="0" smtClean="0"/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6" y="2651819"/>
            <a:ext cx="8064765" cy="364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914" y="1335092"/>
            <a:ext cx="10929257" cy="5385021"/>
          </a:xfrm>
        </p:spPr>
        <p:txBody>
          <a:bodyPr>
            <a:normAutofit/>
          </a:bodyPr>
          <a:lstStyle/>
          <a:p>
            <a:pPr marL="857250" indent="-857250">
              <a:buFont typeface="+mj-lt"/>
              <a:buAutoNum type="romanLcPeriod" startAt="7"/>
            </a:pPr>
            <a:r>
              <a:rPr lang="fr-FR" sz="2800" b="1" dirty="0"/>
              <a:t>Les propriétés</a:t>
            </a:r>
            <a:r>
              <a:rPr lang="fr-FR" sz="3200" b="1" dirty="0"/>
              <a:t>:</a:t>
            </a:r>
            <a:r>
              <a:rPr lang="fr-FR" sz="3200" dirty="0"/>
              <a:t> </a:t>
            </a:r>
            <a:r>
              <a:rPr lang="fr-FR" sz="2800" dirty="0"/>
              <a:t>Contient les détails de l’élément </a:t>
            </a:r>
            <a:r>
              <a:rPr lang="fr-FR" sz="2800" dirty="0" smtClean="0"/>
              <a:t>sélectionné</a:t>
            </a:r>
          </a:p>
          <a:p>
            <a:pPr marL="571500" indent="-571500">
              <a:buFont typeface="+mj-lt"/>
              <a:buAutoNum type="romanLcPeriod" startAt="7"/>
            </a:pPr>
            <a:endParaRPr lang="fr-FR" sz="2800" dirty="0"/>
          </a:p>
          <a:p>
            <a:pPr marL="571500" indent="-571500">
              <a:buFont typeface="+mj-lt"/>
              <a:buAutoNum type="romanLcPeriod" startAt="7"/>
            </a:pPr>
            <a:endParaRPr lang="fr-FR" sz="2800" dirty="0" smtClean="0"/>
          </a:p>
          <a:p>
            <a:pPr marL="571500" indent="-571500">
              <a:buFont typeface="+mj-lt"/>
              <a:buAutoNum type="romanLcPeriod" startAt="7"/>
            </a:pPr>
            <a:endParaRPr lang="fr-FR" sz="2800" dirty="0"/>
          </a:p>
          <a:p>
            <a:pPr marL="0" indent="0">
              <a:buNone/>
            </a:pPr>
            <a:endParaRPr lang="fr-FR" sz="2800" dirty="0"/>
          </a:p>
          <a:p>
            <a:pPr marL="0" indent="0">
              <a:buNone/>
            </a:pPr>
            <a:endParaRPr lang="fr-FR" sz="2800" dirty="0" smtClean="0"/>
          </a:p>
          <a:p>
            <a:pPr marL="0" indent="0">
              <a:buNone/>
            </a:pPr>
            <a:endParaRPr lang="fr-FR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981" y="2259983"/>
            <a:ext cx="6563077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9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35093"/>
            <a:ext cx="9905999" cy="354171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fr-FR" sz="3200" dirty="0"/>
              <a:t> </a:t>
            </a:r>
            <a:r>
              <a:rPr lang="fr-FR" sz="3200" dirty="0" smtClean="0"/>
              <a:t>Moteur de recherche</a:t>
            </a:r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10" name="Imag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092" y="2073624"/>
            <a:ext cx="8901696" cy="43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665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914" y="1335092"/>
            <a:ext cx="10929257" cy="5385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 smtClean="0"/>
              <a:t>RECHERCHE AVANCÉE: </a:t>
            </a:r>
            <a:r>
              <a:rPr lang="fr-FR" sz="2800" dirty="0"/>
              <a:t>organise les champs de requête sur des onglets </a:t>
            </a:r>
            <a:r>
              <a:rPr lang="fr-FR" sz="2800" dirty="0" smtClean="0"/>
              <a:t>d'arborescence</a:t>
            </a:r>
          </a:p>
          <a:p>
            <a:pPr marL="0" indent="0">
              <a:buNone/>
            </a:pPr>
            <a:endParaRPr lang="fr-FR" sz="1050" dirty="0" smtClean="0"/>
          </a:p>
          <a:p>
            <a:pPr marL="571500" indent="-571500">
              <a:buFont typeface="+mj-lt"/>
              <a:buAutoNum type="romanLcPeriod"/>
            </a:pPr>
            <a:r>
              <a:rPr lang="fr-FR" sz="2800" b="1" dirty="0"/>
              <a:t>Recherche </a:t>
            </a:r>
            <a:r>
              <a:rPr lang="fr-FR" sz="2800" b="1" dirty="0" smtClean="0"/>
              <a:t>avancée</a:t>
            </a:r>
          </a:p>
          <a:p>
            <a:pPr marL="0" indent="0">
              <a:buNone/>
            </a:pPr>
            <a:r>
              <a:rPr lang="fr-FR" sz="2800" b="1" dirty="0" smtClean="0"/>
              <a:t>PAR CRITÈRES: </a:t>
            </a:r>
          </a:p>
          <a:p>
            <a:pPr marL="571500" indent="-571500">
              <a:buFont typeface="+mj-lt"/>
              <a:buAutoNum type="romanLcPeriod"/>
            </a:pPr>
            <a:endParaRPr lang="fr-FR" sz="2800" b="1" dirty="0"/>
          </a:p>
          <a:p>
            <a:pPr marL="0" indent="0">
              <a:buNone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endParaRPr lang="fr-FR" sz="3000" dirty="0" smtClean="0"/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9" name="Imag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410" y="2778809"/>
            <a:ext cx="6588000" cy="34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884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914" y="1335092"/>
            <a:ext cx="10929257" cy="5385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 smtClean="0"/>
              <a:t>RECHERCHE AVANCÉE: </a:t>
            </a:r>
            <a:r>
              <a:rPr lang="fr-FR" sz="2800" dirty="0"/>
              <a:t>organise les champs de requête sur des onglets </a:t>
            </a:r>
            <a:r>
              <a:rPr lang="fr-FR" sz="2800" dirty="0" smtClean="0"/>
              <a:t>d'arborescence</a:t>
            </a:r>
          </a:p>
          <a:p>
            <a:pPr marL="0" indent="0">
              <a:buNone/>
            </a:pPr>
            <a:endParaRPr lang="fr-FR" sz="1050" dirty="0" smtClean="0"/>
          </a:p>
          <a:p>
            <a:pPr marL="571500" indent="-571500">
              <a:buFont typeface="+mj-lt"/>
              <a:buAutoNum type="romanLcPeriod" startAt="2"/>
            </a:pPr>
            <a:r>
              <a:rPr lang="fr-FR" sz="2800" b="1" dirty="0" smtClean="0"/>
              <a:t>Recherche </a:t>
            </a:r>
            <a:r>
              <a:rPr lang="fr-FR" sz="2800" b="1" dirty="0"/>
              <a:t>avancée </a:t>
            </a:r>
            <a:endParaRPr lang="fr-FR" sz="2800" b="1" dirty="0" smtClean="0"/>
          </a:p>
          <a:p>
            <a:pPr marL="0" indent="0">
              <a:buNone/>
            </a:pPr>
            <a:r>
              <a:rPr lang="fr-FR" sz="2800" b="1" dirty="0" smtClean="0"/>
              <a:t>PAR TYPE: </a:t>
            </a:r>
          </a:p>
          <a:p>
            <a:pPr marL="571500" indent="-571500">
              <a:buFont typeface="+mj-lt"/>
              <a:buAutoNum type="romanLcPeriod"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endParaRPr lang="fr-FR" sz="3000" dirty="0" smtClean="0"/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5" name="Imag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3564" y="2956670"/>
            <a:ext cx="6480000" cy="27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768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914" y="1335092"/>
            <a:ext cx="10929257" cy="5385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 smtClean="0"/>
              <a:t>RÉSULTATS DE RECHERCHE</a:t>
            </a:r>
            <a:endParaRPr lang="fr-FR" sz="1050" dirty="0" smtClean="0"/>
          </a:p>
          <a:p>
            <a:pPr marL="571500" indent="-571500">
              <a:buFont typeface="+mj-lt"/>
              <a:buAutoNum type="romanLcPeriod"/>
            </a:pPr>
            <a:r>
              <a:rPr lang="fr-FR" sz="2800" b="1" dirty="0" smtClean="0"/>
              <a:t>Résultat PAR DÉFAUT: </a:t>
            </a:r>
          </a:p>
          <a:p>
            <a:pPr marL="571500" indent="-571500">
              <a:buFont typeface="+mj-lt"/>
              <a:buAutoNum type="romanLcPeriod"/>
            </a:pPr>
            <a:endParaRPr lang="fr-FR" sz="2800" b="1" dirty="0"/>
          </a:p>
          <a:p>
            <a:pPr marL="571500" indent="-571500">
              <a:buFont typeface="+mj-lt"/>
              <a:buAutoNum type="romanLcPeriod"/>
            </a:pPr>
            <a:endParaRPr lang="fr-FR" sz="2800" b="1" dirty="0" smtClean="0"/>
          </a:p>
          <a:p>
            <a:pPr marL="571500" indent="-571500">
              <a:buFont typeface="+mj-lt"/>
              <a:buAutoNum type="romanLcPeriod"/>
            </a:pPr>
            <a:endParaRPr lang="fr-FR" sz="1800" b="1" dirty="0" smtClean="0"/>
          </a:p>
          <a:p>
            <a:pPr marL="571500" indent="-571500">
              <a:buFont typeface="+mj-lt"/>
              <a:buAutoNum type="romanLcPeriod"/>
            </a:pPr>
            <a:r>
              <a:rPr lang="fr-FR" sz="2800" b="1" dirty="0"/>
              <a:t>Résultat </a:t>
            </a:r>
            <a:r>
              <a:rPr lang="fr-FR" sz="2800" b="1" dirty="0" smtClean="0"/>
              <a:t>EN MODE COMPACTE: </a:t>
            </a:r>
          </a:p>
          <a:p>
            <a:pPr marL="571500" indent="-571500">
              <a:buFont typeface="+mj-lt"/>
              <a:buAutoNum type="romanLcPeriod"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endParaRPr lang="fr-FR" sz="2800" dirty="0" smtClean="0"/>
          </a:p>
          <a:p>
            <a:pPr marL="514350" indent="-514350">
              <a:buFont typeface="+mj-lt"/>
              <a:buAutoNum type="romanLcPeriod"/>
            </a:pPr>
            <a:endParaRPr lang="fr-FR" sz="3000" dirty="0" smtClean="0"/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43" y="2770639"/>
            <a:ext cx="11000146" cy="127884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14" y="5127623"/>
            <a:ext cx="10963579" cy="63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6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35093"/>
            <a:ext cx="9905999" cy="354171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fr-FR" sz="3200" dirty="0"/>
              <a:t> </a:t>
            </a:r>
            <a:r>
              <a:rPr lang="fr-FR" sz="3200" dirty="0" smtClean="0"/>
              <a:t>Tableau de bord : espace personnel</a:t>
            </a:r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8" name="Image 7"/>
          <p:cNvPicPr/>
          <p:nvPr/>
        </p:nvPicPr>
        <p:blipFill>
          <a:blip r:embed="rId2"/>
          <a:stretch>
            <a:fillRect/>
          </a:stretch>
        </p:blipFill>
        <p:spPr>
          <a:xfrm>
            <a:off x="1141412" y="1940387"/>
            <a:ext cx="9936000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55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35093"/>
            <a:ext cx="9905999" cy="354171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fr-FR" sz="3200" dirty="0"/>
              <a:t> </a:t>
            </a:r>
            <a:r>
              <a:rPr lang="fr-FR" sz="3200" dirty="0" smtClean="0"/>
              <a:t>Tableau de bord : vue générale</a:t>
            </a:r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6" name="Imag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56893" y="1954036"/>
            <a:ext cx="9936000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6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2" y="325361"/>
            <a:ext cx="9905998" cy="923679"/>
          </a:xfrm>
        </p:spPr>
        <p:txBody>
          <a:bodyPr/>
          <a:lstStyle/>
          <a:p>
            <a:pPr marL="857250" indent="-857250">
              <a:buFont typeface="+mj-lt"/>
              <a:buAutoNum type="romanUcPeriod" startAt="6"/>
            </a:pPr>
            <a:r>
              <a:rPr lang="fr-FR" dirty="0"/>
              <a:t>Comment la plateforme fonctionne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35093"/>
            <a:ext cx="9905999" cy="354171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fr-FR" sz="3200" b="1" dirty="0"/>
              <a:t> La barre des états: </a:t>
            </a:r>
            <a:r>
              <a:rPr lang="fr-FR" sz="3000" dirty="0"/>
              <a:t>indique </a:t>
            </a:r>
            <a:r>
              <a:rPr lang="fr-FR" sz="3000" dirty="0" smtClean="0"/>
              <a:t>le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fr-FR" sz="3000" dirty="0" smtClean="0"/>
              <a:t>Le nom </a:t>
            </a:r>
            <a:r>
              <a:rPr lang="fr-FR" sz="3000" dirty="0"/>
              <a:t>de l’utilisateur connecté, </a:t>
            </a:r>
            <a:endParaRPr lang="fr-FR" sz="3000" dirty="0" smtClean="0"/>
          </a:p>
          <a:p>
            <a:pPr>
              <a:buFontTx/>
              <a:buChar char="-"/>
            </a:pPr>
            <a:r>
              <a:rPr lang="fr-FR" sz="3000" dirty="0" smtClean="0"/>
              <a:t>La </a:t>
            </a:r>
            <a:r>
              <a:rPr lang="fr-FR" sz="3000" dirty="0"/>
              <a:t>taille de référentiels </a:t>
            </a:r>
            <a:r>
              <a:rPr lang="fr-FR" sz="3000" dirty="0" smtClean="0"/>
              <a:t>d’utilisateur (espace utilisé par l’utilisateur en temps réel), </a:t>
            </a:r>
            <a:r>
              <a:rPr lang="fr-FR" sz="3000" dirty="0"/>
              <a:t>et </a:t>
            </a:r>
            <a:endParaRPr lang="fr-FR" sz="3000" dirty="0" smtClean="0"/>
          </a:p>
          <a:p>
            <a:pPr>
              <a:buFontTx/>
              <a:buChar char="-"/>
            </a:pPr>
            <a:r>
              <a:rPr lang="fr-FR" sz="3000" dirty="0"/>
              <a:t>L</a:t>
            </a:r>
            <a:r>
              <a:rPr lang="fr-FR" sz="3000" dirty="0" smtClean="0"/>
              <a:t>es </a:t>
            </a:r>
            <a:r>
              <a:rPr lang="fr-FR" sz="3000" dirty="0"/>
              <a:t>alertes ou notifications</a:t>
            </a:r>
          </a:p>
          <a:p>
            <a:pPr marL="514350" indent="-514350">
              <a:buFont typeface="+mj-lt"/>
              <a:buAutoNum type="arabicPeriod" startAt="4"/>
            </a:pPr>
            <a:endParaRPr lang="fr-FR" sz="3200" dirty="0" smtClean="0"/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5" name="Imag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576" y="4876807"/>
            <a:ext cx="9378836" cy="5894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377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689" y="1284058"/>
            <a:ext cx="7646082" cy="440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8918"/>
            <a:ext cx="9905998" cy="1478570"/>
          </a:xfrm>
        </p:spPr>
        <p:txBody>
          <a:bodyPr/>
          <a:lstStyle/>
          <a:p>
            <a:pPr marL="857250" indent="-857250">
              <a:buFont typeface="+mj-lt"/>
              <a:buAutoNum type="romanUcPeriod" startAt="7"/>
            </a:pPr>
            <a:r>
              <a:rPr lang="fr-FR" dirty="0" smtClean="0"/>
              <a:t>SIMULATION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9608" y="1829702"/>
            <a:ext cx="7954963" cy="378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84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sange 11">
            <a:extLst>
              <a:ext uri="{FF2B5EF4-FFF2-40B4-BE49-F238E27FC236}">
                <a16:creationId xmlns="" xmlns:a16="http://schemas.microsoft.com/office/drawing/2014/main" id="{7DC8B409-5FAC-4539-B25A-26BE925A48AF}"/>
              </a:ext>
            </a:extLst>
          </p:cNvPr>
          <p:cNvSpPr/>
          <p:nvPr/>
        </p:nvSpPr>
        <p:spPr>
          <a:xfrm>
            <a:off x="4792319" y="2706569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" name="Losange 12">
            <a:extLst>
              <a:ext uri="{FF2B5EF4-FFF2-40B4-BE49-F238E27FC236}">
                <a16:creationId xmlns="" xmlns:a16="http://schemas.microsoft.com/office/drawing/2014/main" id="{91498E2F-539C-46D3-AF7C-BB1DAE76B114}"/>
              </a:ext>
            </a:extLst>
          </p:cNvPr>
          <p:cNvSpPr/>
          <p:nvPr/>
        </p:nvSpPr>
        <p:spPr>
          <a:xfrm>
            <a:off x="4325258" y="1544068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="" xmlns:a16="http://schemas.microsoft.com/office/drawing/2014/main" id="{FA061601-468D-486D-B8EE-42BD1BE3ADCC}"/>
              </a:ext>
            </a:extLst>
          </p:cNvPr>
          <p:cNvSpPr txBox="1">
            <a:spLocks/>
          </p:cNvSpPr>
          <p:nvPr/>
        </p:nvSpPr>
        <p:spPr>
          <a:xfrm>
            <a:off x="5065486" y="3233210"/>
            <a:ext cx="2479339" cy="91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600" dirty="0" smtClean="0"/>
              <a:t>Merci</a:t>
            </a:r>
            <a:endParaRPr lang="fr-FR" sz="6600" dirty="0"/>
          </a:p>
        </p:txBody>
      </p:sp>
    </p:spTree>
    <p:extLst>
      <p:ext uri="{BB962C8B-B14F-4D97-AF65-F5344CB8AC3E}">
        <p14:creationId xmlns:p14="http://schemas.microsoft.com/office/powerpoint/2010/main" val="62040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4_TF77815013" id="{1E63A3F3-EF3D-4FBB-9BC6-FF1129928CC1}" vid="{D390F830-A480-4B13-B3B6-57818ECCAE2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999</Words>
  <Application>Microsoft Office PowerPoint</Application>
  <PresentationFormat>Grand écran</PresentationFormat>
  <Paragraphs>192</Paragraphs>
  <Slides>41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9" baseType="lpstr">
      <vt:lpstr>Arial</vt:lpstr>
      <vt:lpstr>Calibri</vt:lpstr>
      <vt:lpstr>Rockwell</vt:lpstr>
      <vt:lpstr>Trebuchet MS</vt:lpstr>
      <vt:lpstr>Tw Cen MT</vt:lpstr>
      <vt:lpstr>Wingdings</vt:lpstr>
      <vt:lpstr>Wingdings 2</vt:lpstr>
      <vt:lpstr>Circuit</vt:lpstr>
      <vt:lpstr>Ajouter et Déposer ses rapports avec openkm</vt:lpstr>
      <vt:lpstr>Ordre du jour</vt:lpstr>
      <vt:lpstr>OpenKM, c’est quoi?</vt:lpstr>
      <vt:lpstr>Comment ENVOYER NOTRE RAPPORT A L’ARSM en 02 étapes ?</vt:lpstr>
      <vt:lpstr>Comment ENVOYER NOTRE RAPPORT A L’ARSM en 02 étapes ?</vt:lpstr>
      <vt:lpstr>Présentation PowerPoint</vt:lpstr>
      <vt:lpstr>Comment ENVOYER NOTRE RAPPORT A L’ARSM en 02 étapes ?</vt:lpstr>
      <vt:lpstr>Comment ENVOYER NOTRE RAPPORT A L’ARSM en 02 étapes ?</vt:lpstr>
      <vt:lpstr>Comment ENVOYER NOTRE RAPPORT A L’ARSM en 02 étapes ?</vt:lpstr>
      <vt:lpstr>Comment ENVOYER NOTRE RAPPORT A L’ARSM en 02 étapes ?</vt:lpstr>
      <vt:lpstr>Comment ENVOYER NOTRE RAPPORT A L’ARSM en 02 étapes ?</vt:lpstr>
      <vt:lpstr>Comment ENVOYER NOTRE RAPPORT A L’ARSM en 02 étapes ?</vt:lpstr>
      <vt:lpstr>Comment ENVOYER NOTRE RAPPORT A L’ARSM en 02 étapes ?</vt:lpstr>
      <vt:lpstr>Comment ENVOYER NOTRE RAPPORT A L’ARSM en 02 étapes ?</vt:lpstr>
      <vt:lpstr>Que faire si notre rapport a été refusé ?</vt:lpstr>
      <vt:lpstr>Que faire si notre rapport a été refusé ?</vt:lpstr>
      <vt:lpstr>Que faire si notre rapport a été refusé ?</vt:lpstr>
      <vt:lpstr>Comment avoir des nouvelles de notre rapport envoyé pour validation ?</vt:lpstr>
      <vt:lpstr>Comment avoir des nouvelles de notre rapport envoyé pour validation ?</vt:lpstr>
      <vt:lpstr>Comment avoir des nouvelles de notre rapport envoyé pour validation ?</vt:lpstr>
      <vt:lpstr>Comment avoir des nouvelles de notre rapport envoyé pour validation ?</vt:lpstr>
      <vt:lpstr>remarques</vt:lpstr>
      <vt:lpstr>remarques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Comment la plateforme fonctionne ?</vt:lpstr>
      <vt:lpstr>Présentation PowerPoint</vt:lpstr>
      <vt:lpstr>SIMULATION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2020-02-10T02:09:46Z</dcterms:created>
  <dcterms:modified xsi:type="dcterms:W3CDTF">2021-03-19T15:54:00Z</dcterms:modified>
</cp:coreProperties>
</file>