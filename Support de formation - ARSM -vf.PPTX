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9" r:id="rId1"/>
  </p:sldMasterIdLst>
  <p:notesMasterIdLst>
    <p:notesMasterId r:id="rId39"/>
  </p:notesMasterIdLst>
  <p:handoutMasterIdLst>
    <p:handoutMasterId r:id="rId40"/>
  </p:handoutMasterIdLst>
  <p:sldIdLst>
    <p:sldId id="256" r:id="rId2"/>
    <p:sldId id="260" r:id="rId3"/>
    <p:sldId id="258" r:id="rId4"/>
    <p:sldId id="281" r:id="rId5"/>
    <p:sldId id="282" r:id="rId6"/>
    <p:sldId id="285" r:id="rId7"/>
    <p:sldId id="286" r:id="rId8"/>
    <p:sldId id="287" r:id="rId9"/>
    <p:sldId id="288" r:id="rId10"/>
    <p:sldId id="289" r:id="rId11"/>
    <p:sldId id="284" r:id="rId12"/>
    <p:sldId id="298" r:id="rId13"/>
    <p:sldId id="299" r:id="rId14"/>
    <p:sldId id="300" r:id="rId15"/>
    <p:sldId id="301" r:id="rId16"/>
    <p:sldId id="302" r:id="rId17"/>
    <p:sldId id="303" r:id="rId18"/>
    <p:sldId id="305" r:id="rId19"/>
    <p:sldId id="306" r:id="rId20"/>
    <p:sldId id="259" r:id="rId21"/>
    <p:sldId id="291" r:id="rId22"/>
    <p:sldId id="290" r:id="rId23"/>
    <p:sldId id="261" r:id="rId24"/>
    <p:sldId id="292" r:id="rId25"/>
    <p:sldId id="293" r:id="rId26"/>
    <p:sldId id="294" r:id="rId27"/>
    <p:sldId id="295" r:id="rId28"/>
    <p:sldId id="280" r:id="rId29"/>
    <p:sldId id="296" r:id="rId30"/>
    <p:sldId id="297" r:id="rId31"/>
    <p:sldId id="278" r:id="rId32"/>
    <p:sldId id="268" r:id="rId33"/>
    <p:sldId id="269" r:id="rId34"/>
    <p:sldId id="270" r:id="rId35"/>
    <p:sldId id="274" r:id="rId36"/>
    <p:sldId id="275" r:id="rId37"/>
    <p:sldId id="276" r:id="rId38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eur" initials="A" lastIdx="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40" autoAdjust="0"/>
    <p:restoredTop sz="68485" autoAdjust="0"/>
  </p:normalViewPr>
  <p:slideViewPr>
    <p:cSldViewPr snapToGrid="0">
      <p:cViewPr varScale="1">
        <p:scale>
          <a:sx n="64" d="100"/>
          <a:sy n="64" d="100"/>
        </p:scale>
        <p:origin x="148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463C8A-AA8A-4F33-A5FD-9EB92A371610}" type="doc">
      <dgm:prSet loTypeId="urn:microsoft.com/office/officeart/2005/8/layout/radial5" loCatId="cycle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fr-FR"/>
        </a:p>
      </dgm:t>
    </dgm:pt>
    <dgm:pt modelId="{E7CA4584-F7C2-4A13-B518-BD238DF6ED30}">
      <dgm:prSet phldrT="[Texte]"/>
      <dgm:spPr/>
      <dgm:t>
        <a:bodyPr/>
        <a:lstStyle/>
        <a:p>
          <a:r>
            <a:rPr lang="fr-FR" dirty="0" err="1" smtClean="0"/>
            <a:t>OpenKM</a:t>
          </a:r>
          <a:endParaRPr lang="fr-FR" dirty="0"/>
        </a:p>
      </dgm:t>
    </dgm:pt>
    <dgm:pt modelId="{7CB36FC1-E9B6-4020-9302-D44EA77CA224}" type="parTrans" cxnId="{5EB0527D-DB74-4857-BC61-95171779FC74}">
      <dgm:prSet/>
      <dgm:spPr/>
      <dgm:t>
        <a:bodyPr/>
        <a:lstStyle/>
        <a:p>
          <a:endParaRPr lang="fr-FR"/>
        </a:p>
      </dgm:t>
    </dgm:pt>
    <dgm:pt modelId="{14B5DDD0-DE79-457D-A40E-72C67E201FAA}" type="sibTrans" cxnId="{5EB0527D-DB74-4857-BC61-95171779FC74}">
      <dgm:prSet/>
      <dgm:spPr/>
      <dgm:t>
        <a:bodyPr/>
        <a:lstStyle/>
        <a:p>
          <a:endParaRPr lang="fr-FR"/>
        </a:p>
      </dgm:t>
    </dgm:pt>
    <dgm:pt modelId="{38AF3D67-733B-4D1A-B570-4D394CA4C746}">
      <dgm:prSet phldrT="[Texte]"/>
      <dgm:spPr>
        <a:solidFill>
          <a:schemeClr val="bg2">
            <a:lumMod val="60000"/>
            <a:lumOff val="40000"/>
          </a:schemeClr>
        </a:solidFill>
      </dgm:spPr>
      <dgm:t>
        <a:bodyPr/>
        <a:lstStyle/>
        <a:p>
          <a:r>
            <a:rPr lang="fr-FR" dirty="0" smtClean="0"/>
            <a:t>SFD</a:t>
          </a:r>
          <a:endParaRPr lang="fr-FR" dirty="0"/>
        </a:p>
      </dgm:t>
    </dgm:pt>
    <dgm:pt modelId="{4FE80DC8-8F3C-4AAA-8E17-7FAC88C341BE}" type="parTrans" cxnId="{31DFC468-80C8-4428-95AD-4677BBFE290A}">
      <dgm:prSet/>
      <dgm:spPr/>
      <dgm:t>
        <a:bodyPr/>
        <a:lstStyle/>
        <a:p>
          <a:endParaRPr lang="fr-FR"/>
        </a:p>
      </dgm:t>
    </dgm:pt>
    <dgm:pt modelId="{17E7C3BD-44C5-4AEF-896A-C1B72B68B5FA}" type="sibTrans" cxnId="{31DFC468-80C8-4428-95AD-4677BBFE290A}">
      <dgm:prSet/>
      <dgm:spPr/>
      <dgm:t>
        <a:bodyPr/>
        <a:lstStyle/>
        <a:p>
          <a:endParaRPr lang="fr-FR"/>
        </a:p>
      </dgm:t>
    </dgm:pt>
    <dgm:pt modelId="{D371AC60-E261-4D59-954E-5AE64FFFFA06}">
      <dgm:prSet phldrT="[Texte]"/>
      <dgm:spPr/>
      <dgm:t>
        <a:bodyPr/>
        <a:lstStyle/>
        <a:p>
          <a:r>
            <a:rPr lang="fr-FR" dirty="0" smtClean="0"/>
            <a:t>SFD</a:t>
          </a:r>
          <a:endParaRPr lang="fr-FR" dirty="0"/>
        </a:p>
      </dgm:t>
    </dgm:pt>
    <dgm:pt modelId="{CD058E52-4457-418C-BB53-DD00EED088F0}" type="parTrans" cxnId="{3E402C7A-E615-4710-9115-D5A7A4B5209B}">
      <dgm:prSet/>
      <dgm:spPr/>
      <dgm:t>
        <a:bodyPr/>
        <a:lstStyle/>
        <a:p>
          <a:endParaRPr lang="fr-FR"/>
        </a:p>
      </dgm:t>
    </dgm:pt>
    <dgm:pt modelId="{7B346C68-24D9-4DF9-9A79-9FA968BFA7E7}" type="sibTrans" cxnId="{3E402C7A-E615-4710-9115-D5A7A4B5209B}">
      <dgm:prSet/>
      <dgm:spPr/>
      <dgm:t>
        <a:bodyPr/>
        <a:lstStyle/>
        <a:p>
          <a:endParaRPr lang="fr-FR"/>
        </a:p>
      </dgm:t>
    </dgm:pt>
    <dgm:pt modelId="{8268923D-BAE7-412B-90A9-F93ACE2F8420}">
      <dgm:prSet phldrT="[Texte]"/>
      <dgm:spPr>
        <a:solidFill>
          <a:schemeClr val="accent5"/>
        </a:solidFill>
      </dgm:spPr>
      <dgm:t>
        <a:bodyPr/>
        <a:lstStyle/>
        <a:p>
          <a:r>
            <a:rPr lang="fr-FR" dirty="0" smtClean="0"/>
            <a:t>ARSM</a:t>
          </a:r>
          <a:endParaRPr lang="fr-FR" dirty="0"/>
        </a:p>
      </dgm:t>
    </dgm:pt>
    <dgm:pt modelId="{6D4A7728-2482-430C-A020-3C8997D24186}" type="parTrans" cxnId="{6BDB9F0E-7D92-40E9-93A6-069F1300B5DE}">
      <dgm:prSet/>
      <dgm:spPr/>
      <dgm:t>
        <a:bodyPr/>
        <a:lstStyle/>
        <a:p>
          <a:endParaRPr lang="fr-FR"/>
        </a:p>
      </dgm:t>
    </dgm:pt>
    <dgm:pt modelId="{EB93F219-ADD5-423E-8FE9-39ED745705B1}" type="sibTrans" cxnId="{6BDB9F0E-7D92-40E9-93A6-069F1300B5DE}">
      <dgm:prSet/>
      <dgm:spPr/>
      <dgm:t>
        <a:bodyPr/>
        <a:lstStyle/>
        <a:p>
          <a:endParaRPr lang="fr-FR"/>
        </a:p>
      </dgm:t>
    </dgm:pt>
    <dgm:pt modelId="{F1C657A0-DCB6-4801-8CA7-2F9CF88DFCB5}">
      <dgm:prSet phldrT="[Texte]"/>
      <dgm:spPr/>
      <dgm:t>
        <a:bodyPr/>
        <a:lstStyle/>
        <a:p>
          <a:r>
            <a:rPr lang="fr-FR" dirty="0" smtClean="0"/>
            <a:t>SFD</a:t>
          </a:r>
          <a:endParaRPr lang="fr-FR" dirty="0"/>
        </a:p>
      </dgm:t>
    </dgm:pt>
    <dgm:pt modelId="{0B9D7665-4D46-4B13-9FCB-05CAB3032471}" type="parTrans" cxnId="{B29D2409-5BB5-4FF8-B83D-23D68F7215DC}">
      <dgm:prSet/>
      <dgm:spPr/>
      <dgm:t>
        <a:bodyPr/>
        <a:lstStyle/>
        <a:p>
          <a:endParaRPr lang="fr-FR"/>
        </a:p>
      </dgm:t>
    </dgm:pt>
    <dgm:pt modelId="{8E5DEF44-5466-4748-AD36-5D62DDCE0C91}" type="sibTrans" cxnId="{B29D2409-5BB5-4FF8-B83D-23D68F7215DC}">
      <dgm:prSet/>
      <dgm:spPr/>
      <dgm:t>
        <a:bodyPr/>
        <a:lstStyle/>
        <a:p>
          <a:endParaRPr lang="fr-FR"/>
        </a:p>
      </dgm:t>
    </dgm:pt>
    <dgm:pt modelId="{6AD76EB6-5E2B-426B-BD55-06872BC55915}" type="pres">
      <dgm:prSet presAssocID="{F6463C8A-AA8A-4F33-A5FD-9EB92A371610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ED76D179-10AB-4CF0-9892-4DC036D5CC6B}" type="pres">
      <dgm:prSet presAssocID="{E7CA4584-F7C2-4A13-B518-BD238DF6ED30}" presName="centerShape" presStyleLbl="node0" presStyleIdx="0" presStyleCnt="1"/>
      <dgm:spPr/>
      <dgm:t>
        <a:bodyPr/>
        <a:lstStyle/>
        <a:p>
          <a:endParaRPr lang="fr-FR"/>
        </a:p>
      </dgm:t>
    </dgm:pt>
    <dgm:pt modelId="{0F486E73-D601-4FF2-B3CF-C1E65D030FDA}" type="pres">
      <dgm:prSet presAssocID="{4FE80DC8-8F3C-4AAA-8E17-7FAC88C341BE}" presName="parTrans" presStyleLbl="sibTrans2D1" presStyleIdx="0" presStyleCnt="4" custAng="10800000" custFlipHor="0" custScaleX="121930" custScaleY="86782"/>
      <dgm:spPr/>
      <dgm:t>
        <a:bodyPr/>
        <a:lstStyle/>
        <a:p>
          <a:endParaRPr lang="fr-FR"/>
        </a:p>
      </dgm:t>
    </dgm:pt>
    <dgm:pt modelId="{08227988-96AD-4295-8E0C-F0135568A327}" type="pres">
      <dgm:prSet presAssocID="{4FE80DC8-8F3C-4AAA-8E17-7FAC88C341BE}" presName="connectorText" presStyleLbl="sibTrans2D1" presStyleIdx="0" presStyleCnt="4"/>
      <dgm:spPr/>
      <dgm:t>
        <a:bodyPr/>
        <a:lstStyle/>
        <a:p>
          <a:endParaRPr lang="fr-FR"/>
        </a:p>
      </dgm:t>
    </dgm:pt>
    <dgm:pt modelId="{216845E2-86F5-46A6-8B34-1B1895E4ABCE}" type="pres">
      <dgm:prSet presAssocID="{38AF3D67-733B-4D1A-B570-4D394CA4C746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BE11733-2294-4995-B31C-5CD08015BF90}" type="pres">
      <dgm:prSet presAssocID="{CD058E52-4457-418C-BB53-DD00EED088F0}" presName="parTrans" presStyleLbl="sibTrans2D1" presStyleIdx="1" presStyleCnt="4" custFlipHor="1" custScaleX="119327" custScaleY="76251"/>
      <dgm:spPr/>
      <dgm:t>
        <a:bodyPr/>
        <a:lstStyle/>
        <a:p>
          <a:endParaRPr lang="fr-FR"/>
        </a:p>
      </dgm:t>
    </dgm:pt>
    <dgm:pt modelId="{4619713E-FB20-47F8-A53B-1034853B6767}" type="pres">
      <dgm:prSet presAssocID="{CD058E52-4457-418C-BB53-DD00EED088F0}" presName="connectorText" presStyleLbl="sibTrans2D1" presStyleIdx="1" presStyleCnt="4"/>
      <dgm:spPr/>
      <dgm:t>
        <a:bodyPr/>
        <a:lstStyle/>
        <a:p>
          <a:endParaRPr lang="fr-FR"/>
        </a:p>
      </dgm:t>
    </dgm:pt>
    <dgm:pt modelId="{96CA67A5-B6E4-4445-A35D-003D2C03B017}" type="pres">
      <dgm:prSet presAssocID="{D371AC60-E261-4D59-954E-5AE64FFFFA06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47E1ABA-B11D-42EB-8126-8D1652E11AD9}" type="pres">
      <dgm:prSet presAssocID="{6D4A7728-2482-430C-A020-3C8997D24186}" presName="parTrans" presStyleLbl="sibTrans2D1" presStyleIdx="2" presStyleCnt="4"/>
      <dgm:spPr/>
      <dgm:t>
        <a:bodyPr/>
        <a:lstStyle/>
        <a:p>
          <a:endParaRPr lang="fr-FR"/>
        </a:p>
      </dgm:t>
    </dgm:pt>
    <dgm:pt modelId="{90E40547-BDAD-4A61-88C7-BECD2E9805A2}" type="pres">
      <dgm:prSet presAssocID="{6D4A7728-2482-430C-A020-3C8997D24186}" presName="connectorText" presStyleLbl="sibTrans2D1" presStyleIdx="2" presStyleCnt="4"/>
      <dgm:spPr/>
      <dgm:t>
        <a:bodyPr/>
        <a:lstStyle/>
        <a:p>
          <a:endParaRPr lang="fr-FR"/>
        </a:p>
      </dgm:t>
    </dgm:pt>
    <dgm:pt modelId="{D42FAEAB-7929-4096-A756-A46746089D3E}" type="pres">
      <dgm:prSet presAssocID="{8268923D-BAE7-412B-90A9-F93ACE2F8420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F9C307E-71FB-46F7-B318-4C9817CF08B5}" type="pres">
      <dgm:prSet presAssocID="{0B9D7665-4D46-4B13-9FCB-05CAB3032471}" presName="parTrans" presStyleLbl="sibTrans2D1" presStyleIdx="3" presStyleCnt="4" custFlipHor="1" custScaleX="106706" custScaleY="85159"/>
      <dgm:spPr/>
      <dgm:t>
        <a:bodyPr/>
        <a:lstStyle/>
        <a:p>
          <a:endParaRPr lang="fr-FR"/>
        </a:p>
      </dgm:t>
    </dgm:pt>
    <dgm:pt modelId="{F0182A51-DF69-482B-B0E9-09DC7571FCBD}" type="pres">
      <dgm:prSet presAssocID="{0B9D7665-4D46-4B13-9FCB-05CAB3032471}" presName="connectorText" presStyleLbl="sibTrans2D1" presStyleIdx="3" presStyleCnt="4"/>
      <dgm:spPr/>
      <dgm:t>
        <a:bodyPr/>
        <a:lstStyle/>
        <a:p>
          <a:endParaRPr lang="fr-FR"/>
        </a:p>
      </dgm:t>
    </dgm:pt>
    <dgm:pt modelId="{5360CE89-5A06-4BB8-ADA5-959E02851D26}" type="pres">
      <dgm:prSet presAssocID="{F1C657A0-DCB6-4801-8CA7-2F9CF88DFCB5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B29D2409-5BB5-4FF8-B83D-23D68F7215DC}" srcId="{E7CA4584-F7C2-4A13-B518-BD238DF6ED30}" destId="{F1C657A0-DCB6-4801-8CA7-2F9CF88DFCB5}" srcOrd="3" destOrd="0" parTransId="{0B9D7665-4D46-4B13-9FCB-05CAB3032471}" sibTransId="{8E5DEF44-5466-4748-AD36-5D62DDCE0C91}"/>
    <dgm:cxn modelId="{669E3F8C-001E-40C9-ABAB-A478EE5C76F8}" type="presOf" srcId="{CD058E52-4457-418C-BB53-DD00EED088F0}" destId="{5BE11733-2294-4995-B31C-5CD08015BF90}" srcOrd="0" destOrd="0" presId="urn:microsoft.com/office/officeart/2005/8/layout/radial5"/>
    <dgm:cxn modelId="{7448B263-CB3D-4334-964C-E9D472203D20}" type="presOf" srcId="{CD058E52-4457-418C-BB53-DD00EED088F0}" destId="{4619713E-FB20-47F8-A53B-1034853B6767}" srcOrd="1" destOrd="0" presId="urn:microsoft.com/office/officeart/2005/8/layout/radial5"/>
    <dgm:cxn modelId="{3E402C7A-E615-4710-9115-D5A7A4B5209B}" srcId="{E7CA4584-F7C2-4A13-B518-BD238DF6ED30}" destId="{D371AC60-E261-4D59-954E-5AE64FFFFA06}" srcOrd="1" destOrd="0" parTransId="{CD058E52-4457-418C-BB53-DD00EED088F0}" sibTransId="{7B346C68-24D9-4DF9-9A79-9FA968BFA7E7}"/>
    <dgm:cxn modelId="{5BEC94B0-43A9-4950-AC77-B292B71C580B}" type="presOf" srcId="{4FE80DC8-8F3C-4AAA-8E17-7FAC88C341BE}" destId="{0F486E73-D601-4FF2-B3CF-C1E65D030FDA}" srcOrd="0" destOrd="0" presId="urn:microsoft.com/office/officeart/2005/8/layout/radial5"/>
    <dgm:cxn modelId="{CE5EC9B8-5224-4CF3-9688-2D5FBF43A7F4}" type="presOf" srcId="{8268923D-BAE7-412B-90A9-F93ACE2F8420}" destId="{D42FAEAB-7929-4096-A756-A46746089D3E}" srcOrd="0" destOrd="0" presId="urn:microsoft.com/office/officeart/2005/8/layout/radial5"/>
    <dgm:cxn modelId="{41ED8341-5011-4873-A4E6-3F6291418E91}" type="presOf" srcId="{E7CA4584-F7C2-4A13-B518-BD238DF6ED30}" destId="{ED76D179-10AB-4CF0-9892-4DC036D5CC6B}" srcOrd="0" destOrd="0" presId="urn:microsoft.com/office/officeart/2005/8/layout/radial5"/>
    <dgm:cxn modelId="{6BDB9F0E-7D92-40E9-93A6-069F1300B5DE}" srcId="{E7CA4584-F7C2-4A13-B518-BD238DF6ED30}" destId="{8268923D-BAE7-412B-90A9-F93ACE2F8420}" srcOrd="2" destOrd="0" parTransId="{6D4A7728-2482-430C-A020-3C8997D24186}" sibTransId="{EB93F219-ADD5-423E-8FE9-39ED745705B1}"/>
    <dgm:cxn modelId="{7A835C0B-D103-43A2-AB27-BF7BE029B5F9}" type="presOf" srcId="{6D4A7728-2482-430C-A020-3C8997D24186}" destId="{90E40547-BDAD-4A61-88C7-BECD2E9805A2}" srcOrd="1" destOrd="0" presId="urn:microsoft.com/office/officeart/2005/8/layout/radial5"/>
    <dgm:cxn modelId="{B94FDBA1-A86E-45E4-BF62-1A640B588FF1}" type="presOf" srcId="{4FE80DC8-8F3C-4AAA-8E17-7FAC88C341BE}" destId="{08227988-96AD-4295-8E0C-F0135568A327}" srcOrd="1" destOrd="0" presId="urn:microsoft.com/office/officeart/2005/8/layout/radial5"/>
    <dgm:cxn modelId="{D64697FD-54A2-4AE2-A6B2-6B5FD35B250C}" type="presOf" srcId="{F1C657A0-DCB6-4801-8CA7-2F9CF88DFCB5}" destId="{5360CE89-5A06-4BB8-ADA5-959E02851D26}" srcOrd="0" destOrd="0" presId="urn:microsoft.com/office/officeart/2005/8/layout/radial5"/>
    <dgm:cxn modelId="{1FD6F44E-821C-4E00-B942-00025994328B}" type="presOf" srcId="{D371AC60-E261-4D59-954E-5AE64FFFFA06}" destId="{96CA67A5-B6E4-4445-A35D-003D2C03B017}" srcOrd="0" destOrd="0" presId="urn:microsoft.com/office/officeart/2005/8/layout/radial5"/>
    <dgm:cxn modelId="{BD7A039F-FB16-4FA5-95E7-8DF68AA4DE57}" type="presOf" srcId="{38AF3D67-733B-4D1A-B570-4D394CA4C746}" destId="{216845E2-86F5-46A6-8B34-1B1895E4ABCE}" srcOrd="0" destOrd="0" presId="urn:microsoft.com/office/officeart/2005/8/layout/radial5"/>
    <dgm:cxn modelId="{9A78CA1D-021C-4400-9656-612B5749C176}" type="presOf" srcId="{0B9D7665-4D46-4B13-9FCB-05CAB3032471}" destId="{F0182A51-DF69-482B-B0E9-09DC7571FCBD}" srcOrd="1" destOrd="0" presId="urn:microsoft.com/office/officeart/2005/8/layout/radial5"/>
    <dgm:cxn modelId="{649D656D-997E-46E3-A83E-E351B06AD48B}" type="presOf" srcId="{6D4A7728-2482-430C-A020-3C8997D24186}" destId="{147E1ABA-B11D-42EB-8126-8D1652E11AD9}" srcOrd="0" destOrd="0" presId="urn:microsoft.com/office/officeart/2005/8/layout/radial5"/>
    <dgm:cxn modelId="{31DFC468-80C8-4428-95AD-4677BBFE290A}" srcId="{E7CA4584-F7C2-4A13-B518-BD238DF6ED30}" destId="{38AF3D67-733B-4D1A-B570-4D394CA4C746}" srcOrd="0" destOrd="0" parTransId="{4FE80DC8-8F3C-4AAA-8E17-7FAC88C341BE}" sibTransId="{17E7C3BD-44C5-4AEF-896A-C1B72B68B5FA}"/>
    <dgm:cxn modelId="{D15756CC-C788-4B47-9205-8F312A6B67A0}" type="presOf" srcId="{0B9D7665-4D46-4B13-9FCB-05CAB3032471}" destId="{8F9C307E-71FB-46F7-B318-4C9817CF08B5}" srcOrd="0" destOrd="0" presId="urn:microsoft.com/office/officeart/2005/8/layout/radial5"/>
    <dgm:cxn modelId="{7153ACB7-B056-4D9E-A526-ABF46BD7B091}" type="presOf" srcId="{F6463C8A-AA8A-4F33-A5FD-9EB92A371610}" destId="{6AD76EB6-5E2B-426B-BD55-06872BC55915}" srcOrd="0" destOrd="0" presId="urn:microsoft.com/office/officeart/2005/8/layout/radial5"/>
    <dgm:cxn modelId="{5EB0527D-DB74-4857-BC61-95171779FC74}" srcId="{F6463C8A-AA8A-4F33-A5FD-9EB92A371610}" destId="{E7CA4584-F7C2-4A13-B518-BD238DF6ED30}" srcOrd="0" destOrd="0" parTransId="{7CB36FC1-E9B6-4020-9302-D44EA77CA224}" sibTransId="{14B5DDD0-DE79-457D-A40E-72C67E201FAA}"/>
    <dgm:cxn modelId="{08917FD4-4F6C-4518-A232-EF5FC832E7EA}" type="presParOf" srcId="{6AD76EB6-5E2B-426B-BD55-06872BC55915}" destId="{ED76D179-10AB-4CF0-9892-4DC036D5CC6B}" srcOrd="0" destOrd="0" presId="urn:microsoft.com/office/officeart/2005/8/layout/radial5"/>
    <dgm:cxn modelId="{677066FE-256B-4E53-A761-46A63619D14C}" type="presParOf" srcId="{6AD76EB6-5E2B-426B-BD55-06872BC55915}" destId="{0F486E73-D601-4FF2-B3CF-C1E65D030FDA}" srcOrd="1" destOrd="0" presId="urn:microsoft.com/office/officeart/2005/8/layout/radial5"/>
    <dgm:cxn modelId="{49D50700-62D3-4EFD-93EF-0C6237014E00}" type="presParOf" srcId="{0F486E73-D601-4FF2-B3CF-C1E65D030FDA}" destId="{08227988-96AD-4295-8E0C-F0135568A327}" srcOrd="0" destOrd="0" presId="urn:microsoft.com/office/officeart/2005/8/layout/radial5"/>
    <dgm:cxn modelId="{83F415B9-207C-4648-9444-B0DB865B258F}" type="presParOf" srcId="{6AD76EB6-5E2B-426B-BD55-06872BC55915}" destId="{216845E2-86F5-46A6-8B34-1B1895E4ABCE}" srcOrd="2" destOrd="0" presId="urn:microsoft.com/office/officeart/2005/8/layout/radial5"/>
    <dgm:cxn modelId="{A9522A6C-16F5-4894-B3EB-BE72ED3B326B}" type="presParOf" srcId="{6AD76EB6-5E2B-426B-BD55-06872BC55915}" destId="{5BE11733-2294-4995-B31C-5CD08015BF90}" srcOrd="3" destOrd="0" presId="urn:microsoft.com/office/officeart/2005/8/layout/radial5"/>
    <dgm:cxn modelId="{B9E9C19B-C121-4EEB-B53C-74D5F0890D64}" type="presParOf" srcId="{5BE11733-2294-4995-B31C-5CD08015BF90}" destId="{4619713E-FB20-47F8-A53B-1034853B6767}" srcOrd="0" destOrd="0" presId="urn:microsoft.com/office/officeart/2005/8/layout/radial5"/>
    <dgm:cxn modelId="{65284084-D622-4E46-939B-1900E934D546}" type="presParOf" srcId="{6AD76EB6-5E2B-426B-BD55-06872BC55915}" destId="{96CA67A5-B6E4-4445-A35D-003D2C03B017}" srcOrd="4" destOrd="0" presId="urn:microsoft.com/office/officeart/2005/8/layout/radial5"/>
    <dgm:cxn modelId="{7302B9F9-CE21-4E62-9F81-9A9257C2A7B5}" type="presParOf" srcId="{6AD76EB6-5E2B-426B-BD55-06872BC55915}" destId="{147E1ABA-B11D-42EB-8126-8D1652E11AD9}" srcOrd="5" destOrd="0" presId="urn:microsoft.com/office/officeart/2005/8/layout/radial5"/>
    <dgm:cxn modelId="{779589DB-2DA8-4700-88F8-A9261E50214B}" type="presParOf" srcId="{147E1ABA-B11D-42EB-8126-8D1652E11AD9}" destId="{90E40547-BDAD-4A61-88C7-BECD2E9805A2}" srcOrd="0" destOrd="0" presId="urn:microsoft.com/office/officeart/2005/8/layout/radial5"/>
    <dgm:cxn modelId="{F4A4AC9F-60D5-49BF-99BD-075151CB3705}" type="presParOf" srcId="{6AD76EB6-5E2B-426B-BD55-06872BC55915}" destId="{D42FAEAB-7929-4096-A756-A46746089D3E}" srcOrd="6" destOrd="0" presId="urn:microsoft.com/office/officeart/2005/8/layout/radial5"/>
    <dgm:cxn modelId="{9C7A163D-2921-484F-A30A-EB6462C0CEED}" type="presParOf" srcId="{6AD76EB6-5E2B-426B-BD55-06872BC55915}" destId="{8F9C307E-71FB-46F7-B318-4C9817CF08B5}" srcOrd="7" destOrd="0" presId="urn:microsoft.com/office/officeart/2005/8/layout/radial5"/>
    <dgm:cxn modelId="{D93CC254-2D65-48C8-9BB5-7486E469379E}" type="presParOf" srcId="{8F9C307E-71FB-46F7-B318-4C9817CF08B5}" destId="{F0182A51-DF69-482B-B0E9-09DC7571FCBD}" srcOrd="0" destOrd="0" presId="urn:microsoft.com/office/officeart/2005/8/layout/radial5"/>
    <dgm:cxn modelId="{4CAA1D06-A544-4586-AA97-00926784EBA0}" type="presParOf" srcId="{6AD76EB6-5E2B-426B-BD55-06872BC55915}" destId="{5360CE89-5A06-4BB8-ADA5-959E02851D26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="" xmlns:a16="http://schemas.microsoft.com/office/drawing/2014/main" id="{3F368B05-2D38-44D6-B8DA-599D4A9E42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="" xmlns:a16="http://schemas.microsoft.com/office/drawing/2014/main" id="{2681012A-122D-475C-A900-C31EAF4E19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02FC4-2826-4189-9A5A-4802B82D90F9}" type="datetimeFigureOut">
              <a:rPr lang="fr-FR" smtClean="0"/>
              <a:t>19/03/2021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="" xmlns:a16="http://schemas.microsoft.com/office/drawing/2014/main" id="{82554434-9A0E-4261-9D33-B9B86CA7C1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="" xmlns:a16="http://schemas.microsoft.com/office/drawing/2014/main" id="{9F980ABD-941E-484C-95AE-BBA0656FBE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9CB67-650C-4C62-AD51-A107FCCEC4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94460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A84B2-E620-4EFC-AE95-6DDE4155F805}" type="datetimeFigureOut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noProof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15328-2FD5-4AB1-B846-CCAE8EA09498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245701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6077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SICS 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(Solution Informatique Centralisée de Suivi des Systèmes Financiers Décentralisés)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6411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profil ARSM dispose de plusieurs types de documents à utiliser dans la plateforme qui sont les suivants : </a:t>
            </a:r>
          </a:p>
          <a:p>
            <a:pPr marL="228600" lvl="0" indent="-228600">
              <a:buFont typeface="+mj-lt"/>
              <a:buAutoNum type="arabicPeriod"/>
            </a:pPr>
            <a:r>
              <a:rPr lang="fr-FR" sz="1200" b="1" u="non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types de rapports devant être  envoyés par les SFD </a:t>
            </a:r>
          </a:p>
          <a:p>
            <a:pPr marL="685800" lvl="1" indent="-228600">
              <a:buFont typeface="+mj-lt"/>
              <a:buAutoNum type="alphaLcParenR"/>
            </a:pPr>
            <a:r>
              <a:rPr lang="fr-FR" sz="1200" b="1" i="1" u="non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Rapport</a:t>
            </a:r>
            <a:r>
              <a:rPr lang="fr-FR" sz="1200" b="1" i="1" u="non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mensuel</a:t>
            </a:r>
          </a:p>
          <a:p>
            <a:pPr marL="685800" lvl="1" indent="-228600">
              <a:buFont typeface="+mj-lt"/>
              <a:buAutoNum type="alphaLcParenR"/>
            </a:pPr>
            <a:r>
              <a:rPr lang="fr-FR" sz="1200" b="1" i="1" u="non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Rapport trimestriel</a:t>
            </a:r>
          </a:p>
          <a:p>
            <a:pPr marL="685800" lvl="1" indent="-228600">
              <a:buFont typeface="+mj-lt"/>
              <a:buAutoNum type="alphaLcParenR"/>
            </a:pPr>
            <a:r>
              <a:rPr lang="fr-FR" sz="1200" b="1" i="1" u="non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Rapport annuel</a:t>
            </a:r>
            <a:endParaRPr lang="fr-FR" sz="1200" b="1" i="1" u="non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fr-FR" sz="1200" b="1" u="non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Lettre d’accompagnement </a:t>
            </a:r>
          </a:p>
          <a:p>
            <a:pPr marL="228600" lvl="0" indent="-228600">
              <a:buFont typeface="+mj-lt"/>
              <a:buAutoNum type="arabicPeriod"/>
            </a:pPr>
            <a:r>
              <a:rPr lang="fr-FR" sz="1200" b="1" u="non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Etat de mise en œuvre des recommandations  </a:t>
            </a:r>
          </a:p>
          <a:p>
            <a:pPr marL="228600" lvl="0" indent="-228600">
              <a:buFont typeface="+mj-lt"/>
              <a:buAutoNum type="arabicPeriod"/>
            </a:pPr>
            <a:r>
              <a:rPr lang="fr-FR" sz="1200" b="1" u="non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Confidentiels </a:t>
            </a:r>
          </a:p>
          <a:p>
            <a:pPr marL="228600" lvl="0" indent="-228600">
              <a:buFont typeface="+mj-lt"/>
              <a:buAutoNum type="arabicPeriod"/>
            </a:pPr>
            <a:r>
              <a:rPr lang="fr-FR" sz="1200" b="1" u="non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Autres 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15328-2FD5-4AB1-B846-CCAE8EA09498}" type="slidenum">
              <a:rPr lang="fr-FR" noProof="0" smtClean="0"/>
              <a:t>12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94407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i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Remarque : </a:t>
            </a:r>
          </a:p>
          <a:p>
            <a:pPr>
              <a:lnSpc>
                <a:spcPct val="150000"/>
              </a:lnSpc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 est à noter que pour les échanges de documents entre ARSM, seuls l’expéditeur et le(s) destinataire(s) peuvent voir le document envoyé. L</a:t>
            </a:r>
          </a:p>
          <a:p>
            <a:pPr>
              <a:lnSpc>
                <a:spcPct val="150000"/>
              </a:lnSpc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 est à noter que pour les échanges de documents entre ARSM, le contenu du répertoire ARSM a été paramétré de telle sorte que lors de l’envoi, il est nécessaire d’avoir sélectionné le type « Confidentiel » afin que celui-ci soit acheminé directement vers le répertoire ARSM. 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15328-2FD5-4AB1-B846-CCAE8EA09498}" type="slidenum">
              <a:rPr lang="fr-FR" noProof="0" smtClean="0"/>
              <a:t>16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47241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15328-2FD5-4AB1-B846-CCAE8EA09498}" type="slidenum">
              <a:rPr lang="fr-FR" noProof="0" smtClean="0"/>
              <a:t>17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50126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15328-2FD5-4AB1-B846-CCAE8EA09498}" type="slidenum">
              <a:rPr lang="fr-FR" noProof="0" smtClean="0"/>
              <a:t>18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93427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15328-2FD5-4AB1-B846-CCAE8EA09498}" type="slidenum">
              <a:rPr lang="fr-FR" noProof="0" smtClean="0"/>
              <a:t>19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11118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cid:image001.png@01D598AC.1E8E0B40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cid:image001.png@01D598AC.1E8E0B40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cid:image001.png@01D598AC.1E8E0B40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cid:image001.png@01D598AC.1E8E0B40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cid:image001.png@01D598AC.1E8E0B40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cid:image001.png@01D598AC.1E8E0B40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cid:image001.png@01D598AC.1E8E0B40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cid:image001.png@01D598AC.1E8E0B40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cid:image001.png@01D598AC.1E8E0B40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cid:image001.png@01D598AC.1E8E0B40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e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 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orme libre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orme libre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orme libre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orme libre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orme libre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orme libre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orme libre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orme libre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orme libre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orme libre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orme libre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orme libre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orme libre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orme libre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orme libre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orme libre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orme libre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orme libre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orme libre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orme libre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orme libre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orme libre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orme libre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orme libre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orme libre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orme libre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orme libre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orme libre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orme libre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orme libre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orme libre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orme libre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orme libre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orme libre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orme libre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orme libre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orme libre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 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orme libre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orme libre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orme libre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orme libre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orme libre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orme libre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orme libre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orme libre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orme libre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orme libre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orme libre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orme libre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orme libre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 smtClean="0"/>
              <a:t>Modifiez le style des sous-titres du masque</a:t>
            </a:r>
            <a:endParaRPr lang="fr-FR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 rtlCol="0"/>
          <a:lstStyle/>
          <a:p>
            <a:pPr rtl="0"/>
            <a:fld id="{A02EAC81-5C99-4864-A0E8-CFA5C9ABA6C2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dirty="0" smtClean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1D7A6B-BCC2-4C21-BAE3-6AF1B840E56D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7" name="Image 6" descr="Description : Description : C:\Patrick\TAF\Visuel\Photoshop\Logo 25 ans\Propal\VF\Propal 15.4 png.png"/>
          <p:cNvPicPr/>
          <p:nvPr userDrawn="1"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" y="5873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93"/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762" y="8743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 rtlCol="0"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35DD21-33A0-42C5-A2E5-7493465514B7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BC33FA-CEBE-4502-9F9B-2F0989154353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8" name="Image 7" descr="Description : Description : C:\Patrick\TAF\Visuel\Photoshop\Logo 25 ans\Propal\VF\Propal 15.4 png.png"/>
          <p:cNvPicPr/>
          <p:nvPr userDrawn="1"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" y="5873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93"/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762" y="8743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1" y="2249486"/>
            <a:ext cx="4878392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249485"/>
            <a:ext cx="4875210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ECB3ED-4851-4DE7-9A6A-4D7485AC63E3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10" name="Image 9" descr="Description : Description : C:\Patrick\TAF\Visuel\Photoshop\Logo 25 ans\Propal\VF\Propal 15.4 png.png"/>
          <p:cNvPicPr/>
          <p:nvPr userDrawn="1"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" y="5873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93"/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762" y="8743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DFEB93-A53E-490C-AF00-EDE3AFF9A36D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6" name="Image 5" descr="Description : Description : C:\Patrick\TAF\Visuel\Photoshop\Logo 25 ans\Propal\VF\Propal 15.4 png.png"/>
          <p:cNvPicPr/>
          <p:nvPr userDrawn="1"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" y="5873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93"/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762" y="8743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69093F2-5574-4FF9-B1D2-E15C695A74EF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5" name="Image 4" descr="Description : Description : C:\Patrick\TAF\Visuel\Photoshop\Logo 25 ans\Propal\VF\Propal 15.4 png.png"/>
          <p:cNvPicPr/>
          <p:nvPr userDrawn="1"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" y="5873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93"/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762" y="8743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rtlCol="0" anchor="ctr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5F6C24-568D-4917-863C-3B89D44003D5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8" name="Image 7" descr="Description : Description : C:\Patrick\TAF\Visuel\Photoshop\Logo 25 ans\Propal\VF\Propal 15.4 png.png"/>
          <p:cNvPicPr/>
          <p:nvPr userDrawn="1"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" y="5873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93"/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762" y="8743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202532-655D-448B-BCCD-E52581A788ED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8" name="Image 7" descr="Description : Description : C:\Patrick\TAF\Visuel\Photoshop\Logo 25 ans\Propal\VF\Propal 15.4 png.png"/>
          <p:cNvPicPr/>
          <p:nvPr userDrawn="1"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" y="5873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93"/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762" y="8743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CE44FF-5CD6-4B82-B1F5-6AE86C9907EB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8" name="Image 7" descr="Description : Description : C:\Patrick\TAF\Visuel\Photoshop\Logo 25 ans\Propal\VF\Propal 15.4 png.png"/>
          <p:cNvPicPr/>
          <p:nvPr userDrawn="1"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" y="5873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93"/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762" y="8743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3B6F96-1DBA-403E-937D-37819E106CA7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413907-E3EB-48AE-AB86-05A8E02730C7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60" name="Zone de texte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Zone de texte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A7BD87-4162-417A-9B5A-2932BA9F7490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r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7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8" name="Espace réservé du texte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0" name="Espace réservé du texte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004DDE-15BB-4C4D-B4EA-C083161A9948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13" name="Image 12" descr="Description : Description : C:\Patrick\TAF\Visuel\Photoshop\Logo 25 ans\Propal\VF\Propal 15.4 png.png"/>
          <p:cNvPicPr/>
          <p:nvPr userDrawn="1"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" y="5873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93"/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762" y="8743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r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19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0" name="Espace réservé d’image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1" name="Espace réservé du texte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3" name="Espace réservé d’image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4" name="Espace réservé du texte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6" name="Espace réservé d’image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7" name="Espace réservé du texte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1F3B7E-0513-428C-82D7-BDF3AA9A4EA5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15" name="Image 14" descr="Description : Description : C:\Patrick\TAF\Visuel\Photoshop\Logo 25 ans\Propal\VF\Propal 15.4 png.png"/>
          <p:cNvPicPr/>
          <p:nvPr userDrawn="1"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" y="5873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93"/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762" y="8743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372795-7EAB-4160-A1B0-2F422ABD8E89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2BF765-708F-4989-AE14-BAB9493E4588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e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e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 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orme libre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orme libre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orme libre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orme libre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orme libre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orme libre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orme libre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orme libre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orme libre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orme libre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gne 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orme libre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orme libre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orme libre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orme libre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orme libre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orme libre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orme libre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orme libre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orme libre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orme libre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orme libre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orme libre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orme libre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orme libre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e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orme libre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orme libre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orme libre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orme libre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orme libre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orme libre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orme libre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orme libre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orme libre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fr-FR" noProof="0"/>
          </a:p>
        </p:txBody>
      </p:sp>
      <p:sp>
        <p:nvSpPr>
          <p:cNvPr id="3" name="Espace réservé au texte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D282D03-1B0F-4808-A039-91C9E6CB118E}" type="datetime1">
              <a:rPr lang="fr-FR" noProof="0" smtClean="0"/>
              <a:t>19/03/2021</a:t>
            </a:fld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5060" y="2467063"/>
            <a:ext cx="9661152" cy="2387600"/>
          </a:xfrm>
        </p:spPr>
        <p:txBody>
          <a:bodyPr rtlCol="0">
            <a:normAutofit/>
          </a:bodyPr>
          <a:lstStyle/>
          <a:p>
            <a:pPr algn="ctr" rtl="0"/>
            <a:r>
              <a:rPr lang="fr-FR" sz="5400" dirty="0" smtClean="0">
                <a:latin typeface="Rockwell" panose="02060603020205020403" pitchFamily="18" charset="0"/>
              </a:rPr>
              <a:t>Collecter et valider les rapports avec </a:t>
            </a:r>
            <a:r>
              <a:rPr lang="fr-FR" sz="5400" dirty="0" err="1" smtClean="0">
                <a:latin typeface="Rockwell" panose="02060603020205020403" pitchFamily="18" charset="0"/>
              </a:rPr>
              <a:t>openkm</a:t>
            </a:r>
            <a:endParaRPr lang="fr-FR" sz="5400" dirty="0">
              <a:latin typeface="Rockwell" panose="02060603020205020403" pitchFamily="18" charset="0"/>
            </a:endParaRPr>
          </a:p>
        </p:txBody>
      </p:sp>
      <p:sp>
        <p:nvSpPr>
          <p:cNvPr id="6" name="Sous-titre 5"/>
          <p:cNvSpPr>
            <a:spLocks noGrp="1"/>
          </p:cNvSpPr>
          <p:nvPr>
            <p:ph type="subTitle" idx="1"/>
          </p:nvPr>
        </p:nvSpPr>
        <p:spPr>
          <a:xfrm>
            <a:off x="1876424" y="4946738"/>
            <a:ext cx="8791575" cy="1655762"/>
          </a:xfrm>
        </p:spPr>
        <p:txBody>
          <a:bodyPr/>
          <a:lstStyle/>
          <a:p>
            <a:pPr algn="ctr"/>
            <a:r>
              <a:rPr lang="fr-FR" b="1" u="sng" dirty="0" smtClean="0"/>
              <a:t>UTILISATEUR :</a:t>
            </a:r>
            <a:r>
              <a:rPr lang="fr-FR" dirty="0" smtClean="0"/>
              <a:t> </a:t>
            </a:r>
            <a:r>
              <a:rPr lang="fr-FR" b="1" i="1" dirty="0" smtClean="0"/>
              <a:t>ARSM</a:t>
            </a:r>
            <a:endParaRPr lang="fr-FR" b="1" i="1" dirty="0"/>
          </a:p>
        </p:txBody>
      </p:sp>
      <p:pic>
        <p:nvPicPr>
          <p:cNvPr id="7" name="Picture 9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576" y="1277471"/>
            <a:ext cx="1573661" cy="1428693"/>
          </a:xfrm>
          <a:prstGeom prst="rect">
            <a:avLst/>
          </a:prstGeom>
        </p:spPr>
      </p:pic>
      <p:pic>
        <p:nvPicPr>
          <p:cNvPr id="8" name="Image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30466" y="1277470"/>
            <a:ext cx="1406919" cy="14286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Ordre du jour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3" y="1918951"/>
            <a:ext cx="10346543" cy="4700789"/>
          </a:xfrm>
        </p:spPr>
        <p:txBody>
          <a:bodyPr>
            <a:normAutofit fontScale="92500" lnSpcReduction="10000"/>
          </a:bodyPr>
          <a:lstStyle/>
          <a:p>
            <a:pPr marL="1028700" lvl="1" indent="-571500">
              <a:buFont typeface="+mj-lt"/>
              <a:buAutoNum type="romanUcPeriod"/>
            </a:pPr>
            <a:r>
              <a:rPr lang="fr-FR" sz="3200" dirty="0" err="1" smtClean="0"/>
              <a:t>OpenKM</a:t>
            </a:r>
            <a:r>
              <a:rPr lang="fr-FR" sz="3200" dirty="0" smtClean="0"/>
              <a:t>, c’est quoi?</a:t>
            </a:r>
          </a:p>
          <a:p>
            <a:pPr marL="971550" lvl="1" indent="-514350">
              <a:buFont typeface="+mj-lt"/>
              <a:buAutoNum type="romanUcPeriod"/>
            </a:pPr>
            <a:r>
              <a:rPr lang="fr-FR" sz="3200" dirty="0" smtClean="0"/>
              <a:t> Comment recevoir et </a:t>
            </a:r>
            <a:r>
              <a:rPr lang="fr-FR" sz="3200" dirty="0"/>
              <a:t>valider les rapports en 05 étapes </a:t>
            </a:r>
            <a:r>
              <a:rPr lang="fr-FR" sz="3200" dirty="0" smtClean="0"/>
              <a:t>?</a:t>
            </a:r>
          </a:p>
          <a:p>
            <a:pPr marL="971550" lvl="1" indent="-514350">
              <a:buFont typeface="+mj-lt"/>
              <a:buAutoNum type="romanUcPeriod"/>
            </a:pPr>
            <a:r>
              <a:rPr lang="fr-FR" sz="3200" dirty="0" smtClean="0"/>
              <a:t> Comment consulter les SFD en retards et les rapports déposés en retard ?</a:t>
            </a:r>
            <a:endParaRPr lang="fr-FR" sz="3200" dirty="0"/>
          </a:p>
          <a:p>
            <a:pPr marL="971550" lvl="1" indent="-514350">
              <a:buFont typeface="+mj-lt"/>
              <a:buAutoNum type="romanUcPeriod"/>
            </a:pPr>
            <a:r>
              <a:rPr lang="fr-FR" sz="3200" dirty="0"/>
              <a:t> Comment savoir si un utilisateur SFD a déposé son rapport ?</a:t>
            </a:r>
          </a:p>
          <a:p>
            <a:pPr marL="971550" lvl="1" indent="-514350">
              <a:buFont typeface="+mj-lt"/>
              <a:buAutoNum type="romanUcPeriod"/>
            </a:pPr>
            <a:r>
              <a:rPr lang="fr-FR" sz="3200" dirty="0"/>
              <a:t> Remarques</a:t>
            </a:r>
          </a:p>
          <a:p>
            <a:pPr marL="971550" lvl="1" indent="-514350">
              <a:buFont typeface="+mj-lt"/>
              <a:buAutoNum type="romanUcPeriod"/>
            </a:pPr>
            <a:r>
              <a:rPr lang="fr-FR" sz="3200" dirty="0"/>
              <a:t> Comment la plateforme fonctionne ?</a:t>
            </a:r>
          </a:p>
          <a:p>
            <a:pPr marL="971550" lvl="1" indent="-514350">
              <a:buFont typeface="+mj-lt"/>
              <a:buAutoNum type="romanUcPeriod"/>
            </a:pPr>
            <a:r>
              <a:rPr lang="fr-FR" sz="3200" dirty="0" smtClean="0"/>
              <a:t> Simulation</a:t>
            </a:r>
          </a:p>
        </p:txBody>
      </p:sp>
    </p:spTree>
    <p:extLst>
      <p:ext uri="{BB962C8B-B14F-4D97-AF65-F5344CB8AC3E}">
        <p14:creationId xmlns:p14="http://schemas.microsoft.com/office/powerpoint/2010/main" val="3500283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marL="857250" indent="-857250">
              <a:buFont typeface="+mj-lt"/>
              <a:buAutoNum type="romanUcPeriod"/>
            </a:pPr>
            <a:r>
              <a:rPr lang="fr-FR" sz="4400" dirty="0" err="1"/>
              <a:t>OpenKM</a:t>
            </a:r>
            <a:r>
              <a:rPr lang="fr-FR" sz="4400" dirty="0"/>
              <a:t>, c’est quoi?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638629" y="1770743"/>
          <a:ext cx="7750628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ZoneTexte 6"/>
          <p:cNvSpPr txBox="1"/>
          <p:nvPr/>
        </p:nvSpPr>
        <p:spPr>
          <a:xfrm>
            <a:off x="8926286" y="3236685"/>
            <a:ext cx="227443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800" dirty="0"/>
              <a:t>Automatisé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800" dirty="0" smtClean="0"/>
              <a:t>Rapidité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800" dirty="0" smtClean="0"/>
              <a:t>Fiabilité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800" dirty="0" smtClean="0"/>
              <a:t>Impartialité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800" dirty="0" smtClean="0"/>
              <a:t>Traçabilité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7939314" y="1815179"/>
            <a:ext cx="39333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800" dirty="0" smtClean="0"/>
              <a:t>Logiciel informatique de collecte et de gestion des documents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804557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1310" y="562715"/>
            <a:ext cx="10790886" cy="1005495"/>
          </a:xfrm>
        </p:spPr>
        <p:txBody>
          <a:bodyPr>
            <a:normAutofit fontScale="90000"/>
          </a:bodyPr>
          <a:lstStyle/>
          <a:p>
            <a:pPr marL="857250" indent="-857250">
              <a:buFont typeface="+mj-lt"/>
              <a:buAutoNum type="romanUcPeriod" startAt="2"/>
            </a:pPr>
            <a:r>
              <a:rPr lang="fr-FR" dirty="0"/>
              <a:t>Comment </a:t>
            </a:r>
            <a:r>
              <a:rPr lang="fr-FR" dirty="0" smtClean="0"/>
              <a:t>recevoir et valider </a:t>
            </a:r>
            <a:r>
              <a:rPr lang="fr-FR" dirty="0"/>
              <a:t>les </a:t>
            </a:r>
            <a:r>
              <a:rPr lang="fr-FR" dirty="0" smtClean="0"/>
              <a:t>rapports d’UN SFD en 05 étapes 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2058000"/>
            <a:ext cx="9905999" cy="350567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sz="3200" dirty="0"/>
              <a:t>Se trouver sur l’affichage du « Tableau de Bord », 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3200" dirty="0" smtClean="0"/>
              <a:t>Choisir la </a:t>
            </a:r>
            <a:r>
              <a:rPr lang="fr-FR" sz="3200" dirty="0"/>
              <a:t>fonction « Processus </a:t>
            </a:r>
            <a:r>
              <a:rPr lang="fr-FR" sz="3200" dirty="0" smtClean="0"/>
              <a:t>»,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3200" dirty="0" smtClean="0"/>
              <a:t>Sélectionner </a:t>
            </a:r>
            <a:r>
              <a:rPr lang="fr-FR" sz="3200" dirty="0"/>
              <a:t>le document </a:t>
            </a:r>
            <a:r>
              <a:rPr lang="fr-FR" sz="3200" dirty="0" smtClean="0"/>
              <a:t>dans « Tâches en attente »,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3200" dirty="0"/>
              <a:t>Ajouter des commentaires si besoin, sauf obligatoire pour le cas d’un refus pour expliquer le motif du rejet</a:t>
            </a:r>
            <a:r>
              <a:rPr lang="fr-FR" sz="3200" dirty="0" smtClean="0"/>
              <a:t>,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156724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779902"/>
            <a:ext cx="9905999" cy="421163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fr-FR" sz="3200" dirty="0" smtClean="0"/>
              <a:t>Accepter </a:t>
            </a:r>
            <a:r>
              <a:rPr lang="fr-FR" sz="3200" dirty="0"/>
              <a:t>ou refuser le document </a:t>
            </a:r>
            <a:r>
              <a:rPr lang="fr-FR" sz="3200" dirty="0" smtClean="0"/>
              <a:t>reçu</a:t>
            </a:r>
            <a:endParaRPr lang="fr-FR" sz="3200" dirty="0"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671310" y="562715"/>
            <a:ext cx="10790886" cy="1005495"/>
          </a:xfrm>
        </p:spPr>
        <p:txBody>
          <a:bodyPr>
            <a:normAutofit fontScale="90000"/>
          </a:bodyPr>
          <a:lstStyle/>
          <a:p>
            <a:pPr marL="857250" indent="-857250">
              <a:buFont typeface="+mj-lt"/>
              <a:buAutoNum type="romanUcPeriod" startAt="2"/>
            </a:pPr>
            <a:r>
              <a:rPr lang="fr-FR" dirty="0"/>
              <a:t>Comment </a:t>
            </a:r>
            <a:r>
              <a:rPr lang="fr-FR" dirty="0" smtClean="0"/>
              <a:t>recevoir et valider </a:t>
            </a:r>
            <a:r>
              <a:rPr lang="fr-FR" dirty="0"/>
              <a:t>les </a:t>
            </a:r>
            <a:r>
              <a:rPr lang="fr-FR" dirty="0" smtClean="0"/>
              <a:t>rapports d’UN SFD en 05 étapes ?</a:t>
            </a:r>
            <a:endParaRPr lang="fr-FR" dirty="0"/>
          </a:p>
        </p:txBody>
      </p:sp>
      <p:pic>
        <p:nvPicPr>
          <p:cNvPr id="9" name="Image 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881" y="2423711"/>
            <a:ext cx="8280000" cy="432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3544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99742" y="1895812"/>
            <a:ext cx="10874577" cy="421163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r-FR" sz="3200" dirty="0"/>
              <a:t>Se trouver sur l’affichage du « Tableau de Bord », </a:t>
            </a:r>
            <a:r>
              <a:rPr lang="fr-FR" sz="3200" dirty="0" smtClean="0"/>
              <a:t>en mode « Vue utilisateur »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3200" dirty="0" smtClean="0"/>
              <a:t>Rapports </a:t>
            </a:r>
            <a:r>
              <a:rPr lang="fr-FR" sz="3200" dirty="0"/>
              <a:t>déposés mais avec retard </a:t>
            </a:r>
            <a:r>
              <a:rPr lang="fr-FR" sz="3200" dirty="0" smtClean="0"/>
              <a:t>:</a:t>
            </a:r>
          </a:p>
          <a:p>
            <a:pPr marL="514350" indent="-514350">
              <a:buFont typeface="+mj-lt"/>
              <a:buAutoNum type="arabicPeriod"/>
            </a:pPr>
            <a:endParaRPr lang="fr-FR" sz="3200" dirty="0"/>
          </a:p>
          <a:p>
            <a:pPr marL="514350" indent="-514350">
              <a:buFont typeface="+mj-lt"/>
              <a:buAutoNum type="arabicPeriod"/>
            </a:pPr>
            <a:endParaRPr lang="fr-FR" sz="3200" dirty="0" smtClean="0"/>
          </a:p>
          <a:p>
            <a:pPr marL="514350" indent="-514350">
              <a:buFont typeface="+mj-lt"/>
              <a:buAutoNum type="arabicPeriod"/>
            </a:pPr>
            <a:endParaRPr lang="fr-FR" sz="3200" dirty="0" smtClean="0"/>
          </a:p>
          <a:p>
            <a:pPr marL="514350" indent="-514350">
              <a:buFont typeface="+mj-lt"/>
              <a:buAutoNum type="arabicPeriod"/>
            </a:pPr>
            <a:endParaRPr lang="fr-FR" sz="3200" dirty="0" smtClean="0"/>
          </a:p>
          <a:p>
            <a:pPr marL="514350" indent="-514350">
              <a:buFont typeface="+mj-lt"/>
              <a:buAutoNum type="arabicPeriod"/>
            </a:pPr>
            <a:r>
              <a:rPr lang="fr-FR" sz="3200" dirty="0" smtClean="0"/>
              <a:t>Rapports </a:t>
            </a:r>
            <a:r>
              <a:rPr lang="fr-FR" sz="3200" dirty="0"/>
              <a:t>en retard mais qui attendent encore d’être déposés : </a:t>
            </a: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671310" y="562715"/>
            <a:ext cx="10790886" cy="1005495"/>
          </a:xfrm>
        </p:spPr>
        <p:txBody>
          <a:bodyPr>
            <a:normAutofit fontScale="90000"/>
          </a:bodyPr>
          <a:lstStyle/>
          <a:p>
            <a:pPr marL="857250" indent="-857250">
              <a:buFont typeface="+mj-lt"/>
              <a:buAutoNum type="romanUcPeriod" startAt="3"/>
            </a:pPr>
            <a:r>
              <a:rPr lang="fr-FR" dirty="0"/>
              <a:t>Comment consulter les SFD en retards et les rapports déposés en retard ?</a:t>
            </a:r>
          </a:p>
        </p:txBody>
      </p:sp>
      <p:pic>
        <p:nvPicPr>
          <p:cNvPr id="5" name="Imag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577573" y="3153147"/>
            <a:ext cx="6120000" cy="1800000"/>
          </a:xfrm>
          <a:prstGeom prst="rect">
            <a:avLst/>
          </a:prstGeom>
        </p:spPr>
      </p:pic>
      <p:pic>
        <p:nvPicPr>
          <p:cNvPr id="6" name="Image 5"/>
          <p:cNvPicPr/>
          <p:nvPr/>
        </p:nvPicPr>
        <p:blipFill>
          <a:blip r:embed="rId3"/>
          <a:stretch>
            <a:fillRect/>
          </a:stretch>
        </p:blipFill>
        <p:spPr>
          <a:xfrm>
            <a:off x="2577573" y="6030175"/>
            <a:ext cx="630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84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671310" y="562715"/>
            <a:ext cx="10790886" cy="1005495"/>
          </a:xfrm>
        </p:spPr>
        <p:txBody>
          <a:bodyPr>
            <a:normAutofit fontScale="90000"/>
          </a:bodyPr>
          <a:lstStyle/>
          <a:p>
            <a:pPr marL="857250" indent="-857250">
              <a:buFont typeface="+mj-lt"/>
              <a:buAutoNum type="romanUcPeriod" startAt="4"/>
            </a:pPr>
            <a:r>
              <a:rPr lang="fr-FR" dirty="0" smtClean="0"/>
              <a:t>Comment </a:t>
            </a:r>
            <a:r>
              <a:rPr lang="fr-FR" dirty="0"/>
              <a:t>savoir si un utilisateur SFD a déposé son rapport ?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"/>
          </p:nvPr>
        </p:nvSpPr>
        <p:spPr>
          <a:xfrm>
            <a:off x="916393" y="1901757"/>
            <a:ext cx="9905999" cy="354171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800" dirty="0" smtClean="0">
                <a:sym typeface="Wingdings 2" panose="05020102010507070707" pitchFamily="18" charset="2"/>
              </a:rPr>
              <a:t> </a:t>
            </a:r>
            <a:r>
              <a:rPr lang="fr-FR" sz="2800" dirty="0" smtClean="0"/>
              <a:t>NOTIFICATIONS: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 smtClean="0"/>
              <a:t>Par courriel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 smtClean="0"/>
              <a:t>Sur la barre d’état de la plateforme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 smtClean="0"/>
              <a:t>Dans le Tableau de Bord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843123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671310" y="562715"/>
            <a:ext cx="10790886" cy="1005495"/>
          </a:xfrm>
        </p:spPr>
        <p:txBody>
          <a:bodyPr>
            <a:normAutofit fontScale="90000"/>
          </a:bodyPr>
          <a:lstStyle/>
          <a:p>
            <a:pPr marL="857250" indent="-857250">
              <a:buFont typeface="+mj-lt"/>
              <a:buAutoNum type="romanUcPeriod" startAt="4"/>
            </a:pPr>
            <a:r>
              <a:rPr lang="fr-FR" dirty="0" smtClean="0"/>
              <a:t>Comment </a:t>
            </a:r>
            <a:r>
              <a:rPr lang="fr-FR" dirty="0"/>
              <a:t>savoir si un utilisateur SFD a déposé son rapport ?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"/>
          </p:nvPr>
        </p:nvSpPr>
        <p:spPr>
          <a:xfrm>
            <a:off x="916393" y="1529573"/>
            <a:ext cx="9905999" cy="4742437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 smtClean="0"/>
              <a:t>Par courriel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800" dirty="0" smtClean="0"/>
              <a:t>Ajout </a:t>
            </a:r>
            <a:r>
              <a:rPr lang="fr-FR" sz="2800" dirty="0"/>
              <a:t>d’un </a:t>
            </a:r>
            <a:r>
              <a:rPr lang="fr-FR" sz="2800" dirty="0" smtClean="0"/>
              <a:t>document dans la plateforme</a:t>
            </a:r>
          </a:p>
          <a:p>
            <a:pPr marL="0" indent="0">
              <a:lnSpc>
                <a:spcPct val="150000"/>
              </a:lnSpc>
              <a:buNone/>
            </a:pPr>
            <a:endParaRPr lang="fr-FR" sz="2800" dirty="0"/>
          </a:p>
          <a:p>
            <a:pPr marL="0" indent="0">
              <a:lnSpc>
                <a:spcPct val="150000"/>
              </a:lnSpc>
              <a:buNone/>
            </a:pPr>
            <a:endParaRPr lang="fr-FR" dirty="0"/>
          </a:p>
          <a:p>
            <a:pPr marL="0" indent="0">
              <a:lnSpc>
                <a:spcPct val="150000"/>
              </a:lnSpc>
              <a:buNone/>
            </a:pPr>
            <a:r>
              <a:rPr lang="fr-FR" sz="2800" dirty="0" smtClean="0"/>
              <a:t>Déposition </a:t>
            </a:r>
            <a:r>
              <a:rPr lang="fr-FR" sz="2800" dirty="0"/>
              <a:t>d’un rapport pour validation </a:t>
            </a:r>
            <a:endParaRPr lang="fr-FR" sz="2800" dirty="0" smtClean="0"/>
          </a:p>
        </p:txBody>
      </p:sp>
      <p:pic>
        <p:nvPicPr>
          <p:cNvPr id="4" name="Imag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740" y="2978350"/>
            <a:ext cx="6660000" cy="14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739" y="5258170"/>
            <a:ext cx="6660000" cy="147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856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671310" y="562715"/>
            <a:ext cx="10790886" cy="1005495"/>
          </a:xfrm>
        </p:spPr>
        <p:txBody>
          <a:bodyPr>
            <a:normAutofit fontScale="90000"/>
          </a:bodyPr>
          <a:lstStyle/>
          <a:p>
            <a:pPr marL="857250" indent="-857250">
              <a:buFont typeface="+mj-lt"/>
              <a:buAutoNum type="romanUcPeriod" startAt="4"/>
            </a:pPr>
            <a:r>
              <a:rPr lang="fr-FR" dirty="0" smtClean="0"/>
              <a:t>Comment </a:t>
            </a:r>
            <a:r>
              <a:rPr lang="fr-FR" dirty="0"/>
              <a:t>savoir si un utilisateur SFD a déposé son rapport ?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"/>
          </p:nvPr>
        </p:nvSpPr>
        <p:spPr>
          <a:xfrm>
            <a:off x="916393" y="1529573"/>
            <a:ext cx="9905999" cy="4742437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fr-FR" sz="2800" dirty="0"/>
              <a:t>Sur la barre d’état de la plateforme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719" y="2604954"/>
            <a:ext cx="7813636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711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671310" y="562715"/>
            <a:ext cx="10790886" cy="1005495"/>
          </a:xfrm>
        </p:spPr>
        <p:txBody>
          <a:bodyPr>
            <a:normAutofit fontScale="90000"/>
          </a:bodyPr>
          <a:lstStyle/>
          <a:p>
            <a:pPr marL="857250" indent="-857250">
              <a:buFont typeface="+mj-lt"/>
              <a:buAutoNum type="romanUcPeriod" startAt="4"/>
            </a:pPr>
            <a:r>
              <a:rPr lang="fr-FR" dirty="0" smtClean="0"/>
              <a:t>Comment </a:t>
            </a:r>
            <a:r>
              <a:rPr lang="fr-FR" dirty="0"/>
              <a:t>savoir si un utilisateur SFD a déposé son rapport ?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"/>
          </p:nvPr>
        </p:nvSpPr>
        <p:spPr>
          <a:xfrm>
            <a:off x="916393" y="1529573"/>
            <a:ext cx="9905999" cy="4742437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fr-FR" sz="2800" dirty="0"/>
              <a:t>Dans le Tableau de Bord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endParaRPr lang="fr-FR" sz="28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901" y="2535068"/>
            <a:ext cx="9283491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082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9905998" cy="1478570"/>
          </a:xfrm>
        </p:spPr>
        <p:txBody>
          <a:bodyPr/>
          <a:lstStyle/>
          <a:p>
            <a:pPr marL="857250" indent="-857250">
              <a:buFont typeface="+mj-lt"/>
              <a:buAutoNum type="romanUcPeriod" startAt="5"/>
            </a:pPr>
            <a:r>
              <a:rPr lang="fr-FR" dirty="0" smtClean="0"/>
              <a:t>remarques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828800"/>
            <a:ext cx="10121674" cy="4397831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fr-FR" sz="2800" dirty="0" smtClean="0"/>
              <a:t>Un </a:t>
            </a:r>
            <a:r>
              <a:rPr lang="fr-FR" sz="2800" dirty="0"/>
              <a:t>rapport ajouté à la plateforme ne peut pas encore être validé par un utilisateur au sein de l’ARSM, seul un rapport ayant fait l’objet d’un flux de travail, puis envoyé/déposé peut </a:t>
            </a:r>
            <a:r>
              <a:rPr lang="fr-FR" sz="2800" dirty="0" smtClean="0"/>
              <a:t>l’être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8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fr-FR" sz="2800" dirty="0" smtClean="0"/>
              <a:t>Les commentaires sont obligatoires pour le refus d’un rapport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8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fr-FR" sz="2800" dirty="0" smtClean="0"/>
              <a:t>Il </a:t>
            </a:r>
            <a:r>
              <a:rPr lang="fr-FR" sz="2800" dirty="0"/>
              <a:t>ne faut pas oublier de cliquer sur « Ajouter » pour valider le commentaire.</a:t>
            </a:r>
            <a:endParaRPr lang="fr-FR" sz="2800" dirty="0" smtClean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800" dirty="0" smtClean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8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000" dirty="0" smtClean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8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800" dirty="0" smtClean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800" dirty="0" smtClean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91057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28914" y="1335092"/>
            <a:ext cx="10929257" cy="5385021"/>
          </a:xfrm>
          <a:noFill/>
          <a:ln>
            <a:solidFill>
              <a:srgbClr val="FFFF00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000" b="1" dirty="0" smtClean="0"/>
              <a:t>Type de document dans la plateforme: la plateforme comprend divers types de document comme indiqué sur l’image suivante : </a:t>
            </a:r>
            <a:endParaRPr lang="fr-FR" sz="3200" dirty="0"/>
          </a:p>
          <a:p>
            <a:pPr marL="857250" indent="-857250">
              <a:buFont typeface="+mj-lt"/>
              <a:buAutoNum type="romanLcPeriod" startAt="5"/>
            </a:pPr>
            <a:endParaRPr lang="fr-FR" sz="3200" dirty="0"/>
          </a:p>
          <a:p>
            <a:pPr marL="514350" indent="-514350">
              <a:buFont typeface="+mj-lt"/>
              <a:buAutoNum type="romanLcPeriod" startAt="5"/>
            </a:pPr>
            <a:endParaRPr lang="fr-FR" sz="3000" b="1" dirty="0" smtClean="0"/>
          </a:p>
          <a:p>
            <a:pPr marL="514350" indent="-514350">
              <a:buFont typeface="+mj-lt"/>
              <a:buAutoNum type="romanLcPeriod" startAt="5"/>
            </a:pPr>
            <a:endParaRPr lang="fr-FR" sz="3000" dirty="0" smtClean="0"/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551" y="2809500"/>
            <a:ext cx="4261450" cy="3807096"/>
          </a:xfrm>
          <a:prstGeom prst="rect">
            <a:avLst/>
          </a:prstGeom>
        </p:spPr>
      </p:pic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  <a:noFill/>
          <a:ln>
            <a:solidFill>
              <a:srgbClr val="FFFF00"/>
            </a:solidFill>
          </a:ln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899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91516" y="906617"/>
            <a:ext cx="9905998" cy="1478570"/>
          </a:xfrm>
          <a:ln>
            <a:solidFill>
              <a:srgbClr val="FFFF00"/>
            </a:solidFill>
          </a:ln>
        </p:spPr>
        <p:txBody>
          <a:bodyPr/>
          <a:lstStyle/>
          <a:p>
            <a:r>
              <a:rPr lang="fr-FR" b="1" dirty="0" smtClean="0">
                <a:ln>
                  <a:solidFill>
                    <a:schemeClr val="bg1"/>
                  </a:solidFill>
                </a:ln>
              </a:rPr>
              <a:t>Les types de rapports </a:t>
            </a:r>
            <a:endParaRPr lang="fr-FR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ln>
            <a:solidFill>
              <a:srgbClr val="FFFF00"/>
            </a:solidFill>
          </a:ln>
        </p:spPr>
        <p:txBody>
          <a:bodyPr/>
          <a:lstStyle/>
          <a:p>
            <a:r>
              <a:rPr lang="fr-FR" dirty="0"/>
              <a:t>Il s’agit des rapports mensuels, trimestriels et annuels que les SFD doivent envoyer. Ces types de rapports sont encore affichés dans le profil ARSM car il se pourrait à un certain moment que ce soit l’ARSM qui intègre les rapports des SFD dans la plateforme faute de moyens technique (ex connexion) des SFD à le faire.</a:t>
            </a:r>
          </a:p>
          <a:p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41412" y="325361"/>
            <a:ext cx="9905998" cy="92367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+mj-lt"/>
              <a:buAutoNum type="romanUcPeriod" startAt="6"/>
            </a:pPr>
            <a:r>
              <a:rPr lang="fr-FR" smtClean="0"/>
              <a:t>Comment la plateforme fonctionne 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68885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1006824"/>
            <a:ext cx="9905998" cy="1478570"/>
          </a:xfrm>
          <a:ln>
            <a:solidFill>
              <a:srgbClr val="FFFF00"/>
            </a:solidFill>
          </a:ln>
        </p:spPr>
        <p:txBody>
          <a:bodyPr>
            <a:normAutofit/>
          </a:bodyPr>
          <a:lstStyle/>
          <a:p>
            <a:pPr lvl="0"/>
            <a:r>
              <a:rPr lang="fr-FR" b="1" dirty="0">
                <a:ln>
                  <a:solidFill>
                    <a:schemeClr val="bg1"/>
                  </a:solidFill>
                </a:ln>
              </a:rPr>
              <a:t>Lettre d’accompagnement 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ln>
            <a:solidFill>
              <a:srgbClr val="FFFF00"/>
            </a:solidFill>
          </a:ln>
        </p:spPr>
        <p:txBody>
          <a:bodyPr/>
          <a:lstStyle/>
          <a:p>
            <a:r>
              <a:rPr lang="fr-FR" dirty="0" smtClean="0"/>
              <a:t>Ce </a:t>
            </a:r>
            <a:r>
              <a:rPr lang="fr-FR" dirty="0"/>
              <a:t>sont les lettres de recommandation envoyée ponctuellement selon les anomalies constatées au niveau du SFD. Généralement les documents de ce type seront à mettre dans le répertoire du SFD concerné.</a:t>
            </a:r>
          </a:p>
          <a:p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41412" y="325361"/>
            <a:ext cx="9905998" cy="92367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+mj-lt"/>
              <a:buAutoNum type="romanUcPeriod" startAt="6"/>
            </a:pPr>
            <a:r>
              <a:rPr lang="fr-FR" dirty="0" smtClean="0"/>
              <a:t>Comment la plateforme fonctionne 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6597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53314" y="1132085"/>
            <a:ext cx="9905998" cy="1478570"/>
          </a:xfrm>
          <a:ln>
            <a:solidFill>
              <a:srgbClr val="FFFF00"/>
            </a:solidFill>
          </a:ln>
        </p:spPr>
        <p:txBody>
          <a:bodyPr>
            <a:normAutofit/>
          </a:bodyPr>
          <a:lstStyle/>
          <a:p>
            <a:pPr lvl="0"/>
            <a:r>
              <a:rPr lang="fr-FR" b="1" dirty="0">
                <a:ln>
                  <a:solidFill>
                    <a:schemeClr val="bg1"/>
                  </a:solidFill>
                </a:ln>
              </a:rPr>
              <a:t>Etat de mise en œuvre des recommandations 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97362" y="2462429"/>
            <a:ext cx="9905999" cy="3541714"/>
          </a:xfrm>
          <a:ln>
            <a:solidFill>
              <a:srgbClr val="FFFF00"/>
            </a:solidFill>
          </a:ln>
        </p:spPr>
        <p:txBody>
          <a:bodyPr/>
          <a:lstStyle/>
          <a:p>
            <a:r>
              <a:rPr lang="fr-FR" dirty="0"/>
              <a:t>Ce sont les recommandations de l’ARSM pour les SFD. Généralement les documents de ce type seront à mettre dans le répertoire du SFD concerné.</a:t>
            </a: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41412" y="325361"/>
            <a:ext cx="9905998" cy="92367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+mj-lt"/>
              <a:buAutoNum type="romanUcPeriod" startAt="6"/>
            </a:pPr>
            <a:r>
              <a:rPr lang="fr-FR" smtClean="0"/>
              <a:t>Comment la plateforme fonctionne 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6629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1006824"/>
            <a:ext cx="9905998" cy="1478570"/>
          </a:xfrm>
          <a:ln>
            <a:solidFill>
              <a:srgbClr val="FFFF00"/>
            </a:solidFill>
          </a:ln>
        </p:spPr>
        <p:txBody>
          <a:bodyPr>
            <a:normAutofit/>
          </a:bodyPr>
          <a:lstStyle/>
          <a:p>
            <a:r>
              <a:rPr lang="fr-FR" b="1" dirty="0">
                <a:ln>
                  <a:solidFill>
                    <a:schemeClr val="bg1"/>
                  </a:solidFill>
                </a:ln>
              </a:rPr>
              <a:t>Confidentiels 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ln>
            <a:solidFill>
              <a:srgbClr val="FFFF00"/>
            </a:solidFill>
          </a:ln>
        </p:spPr>
        <p:txBody>
          <a:bodyPr/>
          <a:lstStyle/>
          <a:p>
            <a:r>
              <a:rPr lang="fr-FR" dirty="0"/>
              <a:t>Ce sont les échanges destinés uniquement entre les membres de l’ARSM et avec restriction de droits de l’accès au document à un (ou plusieurs) destinataire spécifique. Les documents de ce type seront à mettre dans l’emplacement voulu par l’expéditeur du document ou  selon une règle à définir par l’ARSM.</a:t>
            </a:r>
          </a:p>
          <a:p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41412" y="325361"/>
            <a:ext cx="9905998" cy="92367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+mj-lt"/>
              <a:buAutoNum type="romanUcPeriod" startAt="6"/>
            </a:pPr>
            <a:r>
              <a:rPr lang="fr-FR" dirty="0" smtClean="0"/>
              <a:t>Comment la plateforme fonctionne 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3654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956720"/>
            <a:ext cx="9905998" cy="1478570"/>
          </a:xfrm>
          <a:ln>
            <a:solidFill>
              <a:srgbClr val="FFFF00"/>
            </a:solidFill>
          </a:ln>
        </p:spPr>
        <p:txBody>
          <a:bodyPr>
            <a:normAutofit/>
          </a:bodyPr>
          <a:lstStyle/>
          <a:p>
            <a:r>
              <a:rPr lang="fr-FR" b="1" dirty="0">
                <a:ln>
                  <a:solidFill>
                    <a:schemeClr val="bg1"/>
                  </a:solidFill>
                </a:ln>
              </a:rPr>
              <a:t>Autres 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ln>
            <a:solidFill>
              <a:srgbClr val="FFFF00"/>
            </a:solidFill>
          </a:ln>
        </p:spPr>
        <p:txBody>
          <a:bodyPr/>
          <a:lstStyle/>
          <a:p>
            <a:r>
              <a:rPr lang="fr-FR" dirty="0"/>
              <a:t>Ce sont tout autre type document n’ayant pas de rapport avec les autres types évoqués. Les documents de ce type seront à mettre dans des répertoires spécifiques selon les besoins. </a:t>
            </a:r>
            <a:endParaRPr lang="fr-FR" dirty="0" smtClean="0"/>
          </a:p>
          <a:p>
            <a:r>
              <a:rPr lang="fr-FR" dirty="0"/>
              <a:t>Les communiqués envoyés par l’ARSM à destination des SFD par contre seront à mettre dans un répertoire visible à tous les SFD. Les documents échangés entre les SFD et l’ARSM qui sont d’autre types que ceux cités ci-dessus seront aussi de type « Autres ».</a:t>
            </a:r>
          </a:p>
          <a:p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41412" y="325361"/>
            <a:ext cx="9905998" cy="92367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+mj-lt"/>
              <a:buAutoNum type="romanUcPeriod" startAt="6"/>
            </a:pPr>
            <a:r>
              <a:rPr lang="fr-FR" dirty="0" smtClean="0"/>
              <a:t>Comment la plateforme fonctionne 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50073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1141412" y="325361"/>
            <a:ext cx="9905998" cy="92367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+mj-lt"/>
              <a:buAutoNum type="romanUcPeriod" startAt="6"/>
            </a:pPr>
            <a:r>
              <a:rPr lang="fr-FR" dirty="0" smtClean="0"/>
              <a:t>Comment la plateforme fonctionne ?</a:t>
            </a:r>
            <a:endParaRPr lang="fr-FR" dirty="0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765631" y="994298"/>
            <a:ext cx="9905998" cy="1478570"/>
          </a:xfrm>
          <a:ln>
            <a:solidFill>
              <a:srgbClr val="FFFF00"/>
            </a:solidFill>
          </a:ln>
        </p:spPr>
        <p:txBody>
          <a:bodyPr>
            <a:normAutofit/>
          </a:bodyPr>
          <a:lstStyle/>
          <a:p>
            <a:r>
              <a:rPr lang="fr-FR" b="1" dirty="0">
                <a:ln>
                  <a:solidFill>
                    <a:schemeClr val="bg1"/>
                  </a:solidFill>
                </a:ln>
              </a:rPr>
              <a:t>Comment télécharger un document sur la </a:t>
            </a:r>
            <a:r>
              <a:rPr lang="fr-FR" b="1" dirty="0">
                <a:ln>
                  <a:solidFill>
                    <a:schemeClr val="bg1"/>
                  </a:solidFill>
                </a:ln>
              </a:rPr>
              <a:t>plateforme</a:t>
            </a:r>
          </a:p>
        </p:txBody>
      </p:sp>
      <p:pic>
        <p:nvPicPr>
          <p:cNvPr id="7" name="Espace réservé du contenu 6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223" y="2472868"/>
            <a:ext cx="7221481" cy="3541712"/>
          </a:xfrm>
          <a:prstGeom prst="rect">
            <a:avLst/>
          </a:prstGeom>
          <a:ln>
            <a:solidFill>
              <a:srgbClr val="FFFF00"/>
            </a:solidFill>
          </a:ln>
        </p:spPr>
      </p:pic>
      <p:sp>
        <p:nvSpPr>
          <p:cNvPr id="8" name="ZoneTexte 7"/>
          <p:cNvSpPr txBox="1"/>
          <p:nvPr/>
        </p:nvSpPr>
        <p:spPr>
          <a:xfrm>
            <a:off x="1141411" y="2472868"/>
            <a:ext cx="2552283" cy="397031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fr-FR" b="1" i="1" u="sng" dirty="0"/>
              <a:t>Clic droit puis « Télécharger »</a:t>
            </a:r>
          </a:p>
          <a:p>
            <a:r>
              <a:rPr lang="fr-FR" dirty="0"/>
              <a:t>Pour télécharger un document, il faut placer le curseur au niveau du nom du document. </a:t>
            </a:r>
            <a:endParaRPr lang="fr-FR" dirty="0" smtClean="0"/>
          </a:p>
          <a:p>
            <a:r>
              <a:rPr lang="fr-FR" dirty="0" smtClean="0"/>
              <a:t>Puis </a:t>
            </a:r>
            <a:r>
              <a:rPr lang="fr-FR" dirty="0"/>
              <a:t>en faisant un clic droit pour qu’un menu contextuel apparaisse avec plusieurs options. </a:t>
            </a:r>
            <a:endParaRPr lang="fr-FR" dirty="0" smtClean="0"/>
          </a:p>
          <a:p>
            <a:r>
              <a:rPr lang="fr-FR" dirty="0" smtClean="0"/>
              <a:t>Et </a:t>
            </a:r>
            <a:r>
              <a:rPr lang="fr-FR" dirty="0"/>
              <a:t>enfin, choisir l’option « Télécharger » pour lancer le téléchargement.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1055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1141412" y="325361"/>
            <a:ext cx="9905998" cy="92367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+mj-lt"/>
              <a:buAutoNum type="romanUcPeriod" startAt="6"/>
            </a:pPr>
            <a:r>
              <a:rPr lang="fr-FR" dirty="0" smtClean="0"/>
              <a:t>Comment la plateforme fonctionne ?</a:t>
            </a:r>
            <a:endParaRPr lang="fr-FR" dirty="0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765631" y="994298"/>
            <a:ext cx="9905998" cy="1478570"/>
          </a:xfrm>
          <a:ln>
            <a:solidFill>
              <a:srgbClr val="FFFF00"/>
            </a:solidFill>
          </a:ln>
        </p:spPr>
        <p:txBody>
          <a:bodyPr>
            <a:normAutofit/>
          </a:bodyPr>
          <a:lstStyle/>
          <a:p>
            <a:r>
              <a:rPr lang="fr-FR" b="1" dirty="0">
                <a:ln>
                  <a:solidFill>
                    <a:schemeClr val="bg1"/>
                  </a:solidFill>
                </a:ln>
              </a:rPr>
              <a:t>Comment télécharger un document sur la </a:t>
            </a:r>
            <a:r>
              <a:rPr lang="fr-FR" b="1" dirty="0">
                <a:ln>
                  <a:solidFill>
                    <a:schemeClr val="bg1"/>
                  </a:solidFill>
                </a:ln>
              </a:rPr>
              <a:t>plateforme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1141412" y="2472868"/>
            <a:ext cx="3262146" cy="286232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 startAt="2"/>
            </a:pPr>
            <a:r>
              <a:rPr lang="fr-FR" b="1" i="1" u="sng" dirty="0"/>
              <a:t>Double clic sur le document</a:t>
            </a:r>
          </a:p>
          <a:p>
            <a:r>
              <a:rPr lang="fr-FR" dirty="0"/>
              <a:t>La méthode la plus simple consiste aussi à positionner le curseur de la souris sur le document à télécharger puis d’effectuer un double-clic sur ce document afin que le navigateur prenne en charge le processus de téléchargement.</a:t>
            </a:r>
          </a:p>
          <a:p>
            <a:endParaRPr lang="fr-FR" dirty="0"/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4960307" y="2472867"/>
            <a:ext cx="6087104" cy="3318333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pic>
        <p:nvPicPr>
          <p:cNvPr id="9" name="Imag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307" y="2472868"/>
            <a:ext cx="6087103" cy="3541714"/>
          </a:xfrm>
          <a:prstGeom prst="rect">
            <a:avLst/>
          </a:prstGeom>
          <a:ln>
            <a:solidFill>
              <a:srgbClr val="FFFF00"/>
            </a:solidFill>
          </a:ln>
        </p:spPr>
      </p:pic>
    </p:spTree>
    <p:extLst>
      <p:ext uri="{BB962C8B-B14F-4D97-AF65-F5344CB8AC3E}">
        <p14:creationId xmlns:p14="http://schemas.microsoft.com/office/powerpoint/2010/main" val="4033865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sz="3200" dirty="0"/>
              <a:t> </a:t>
            </a:r>
            <a:r>
              <a:rPr lang="fr-FR" sz="3200" dirty="0" smtClean="0"/>
              <a:t>Authentification</a:t>
            </a:r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5" name="Image 4"/>
          <p:cNvPicPr/>
          <p:nvPr/>
        </p:nvPicPr>
        <p:blipFill>
          <a:blip r:embed="rId2"/>
          <a:stretch>
            <a:fillRect/>
          </a:stretch>
        </p:blipFill>
        <p:spPr>
          <a:xfrm>
            <a:off x="5072061" y="1729105"/>
            <a:ext cx="4629151" cy="4986020"/>
          </a:xfrm>
          <a:prstGeom prst="rect">
            <a:avLst/>
          </a:prstGeom>
        </p:spPr>
      </p:pic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7462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fr-FR" sz="3200" dirty="0"/>
              <a:t> </a:t>
            </a:r>
            <a:r>
              <a:rPr lang="fr-FR" sz="3200" dirty="0" smtClean="0"/>
              <a:t>Déconnexion</a:t>
            </a:r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087" y="1642617"/>
            <a:ext cx="4655173" cy="5040000"/>
          </a:xfrm>
          <a:prstGeom prst="rect">
            <a:avLst/>
          </a:prstGeom>
        </p:spPr>
      </p:pic>
      <p:sp>
        <p:nvSpPr>
          <p:cNvPr id="17" name="Titre 1"/>
          <p:cNvSpPr>
            <a:spLocks noGrp="1"/>
          </p:cNvSpPr>
          <p:nvPr>
            <p:ph type="title"/>
          </p:nvPr>
        </p:nvSpPr>
        <p:spPr>
          <a:xfrm>
            <a:off x="1141413" y="371249"/>
            <a:ext cx="9905998" cy="841792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4588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349828"/>
            <a:ext cx="10121674" cy="505097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FR" sz="2800" dirty="0" smtClean="0"/>
              <a:t>Si l’utilisateur oublie son mot de passe lors de l’authentification, un clic sur « Réinitialiser le mot de passe » enverra automatiquement un nouveau mot de passe via sa boîte email.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8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800" dirty="0" smtClean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800" dirty="0" smtClean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800" dirty="0"/>
          </a:p>
        </p:txBody>
      </p:sp>
      <p:pic>
        <p:nvPicPr>
          <p:cNvPr id="5" name="Imag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601" y="3614057"/>
            <a:ext cx="6465320" cy="216262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lèche droite 7"/>
          <p:cNvSpPr/>
          <p:nvPr/>
        </p:nvSpPr>
        <p:spPr>
          <a:xfrm>
            <a:off x="4738587" y="4528455"/>
            <a:ext cx="537029" cy="464457"/>
          </a:xfrm>
          <a:prstGeom prst="rightArrow">
            <a:avLst/>
          </a:prstGeom>
          <a:solidFill>
            <a:schemeClr val="tx1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/>
          <p:cNvPicPr/>
          <p:nvPr/>
        </p:nvPicPr>
        <p:blipFill>
          <a:blip r:embed="rId3"/>
          <a:stretch>
            <a:fillRect/>
          </a:stretch>
        </p:blipFill>
        <p:spPr>
          <a:xfrm>
            <a:off x="1370209" y="2828398"/>
            <a:ext cx="3188143" cy="3779520"/>
          </a:xfrm>
          <a:prstGeom prst="rect">
            <a:avLst/>
          </a:prstGeom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5435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335093"/>
            <a:ext cx="9905999" cy="354171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fr-FR" sz="3200" dirty="0"/>
              <a:t> </a:t>
            </a:r>
            <a:r>
              <a:rPr lang="fr-FR" sz="3200" dirty="0" smtClean="0"/>
              <a:t>Page d’accueil du bureau</a:t>
            </a:r>
          </a:p>
          <a:p>
            <a:pPr marL="0" indent="0">
              <a:buNone/>
            </a:pPr>
            <a:endParaRPr lang="fr-FR" sz="3200" dirty="0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pic>
        <p:nvPicPr>
          <p:cNvPr id="8" name="Imag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7" y="1964225"/>
            <a:ext cx="9000000" cy="468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1960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51492" y="1335092"/>
            <a:ext cx="11263086" cy="5385021"/>
          </a:xfrm>
        </p:spPr>
        <p:txBody>
          <a:bodyPr>
            <a:normAutofit fontScale="92500" lnSpcReduction="20000"/>
          </a:bodyPr>
          <a:lstStyle/>
          <a:p>
            <a:pPr marL="571500" indent="-571500">
              <a:buFont typeface="+mj-lt"/>
              <a:buAutoNum type="romanLcPeriod"/>
            </a:pPr>
            <a:r>
              <a:rPr lang="fr-FR" sz="3000" b="1" dirty="0" smtClean="0"/>
              <a:t>Le menu: </a:t>
            </a:r>
            <a:r>
              <a:rPr lang="fr-FR" sz="2800" dirty="0" smtClean="0"/>
              <a:t>Affiche </a:t>
            </a:r>
            <a:r>
              <a:rPr lang="fr-FR" sz="2800" dirty="0"/>
              <a:t>les </a:t>
            </a:r>
            <a:r>
              <a:rPr lang="fr-FR" sz="2800" dirty="0" smtClean="0"/>
              <a:t>principales fonctionnalités que permettent </a:t>
            </a:r>
            <a:r>
              <a:rPr lang="fr-FR" sz="2800" dirty="0" err="1" smtClean="0"/>
              <a:t>OpenKM</a:t>
            </a:r>
            <a:endParaRPr lang="fr-FR" sz="2800" dirty="0" smtClean="0"/>
          </a:p>
          <a:p>
            <a:pPr marL="571500" indent="-571500">
              <a:buFont typeface="+mj-lt"/>
              <a:buAutoNum type="romanLcPeriod"/>
            </a:pPr>
            <a:endParaRPr lang="fr-FR" sz="2800" dirty="0" smtClean="0"/>
          </a:p>
          <a:p>
            <a:pPr marL="514350" indent="-514350">
              <a:buFont typeface="+mj-lt"/>
              <a:buAutoNum type="romanLcPeriod"/>
            </a:pPr>
            <a:r>
              <a:rPr lang="fr-FR" sz="3000" b="1" dirty="0" smtClean="0"/>
              <a:t>La </a:t>
            </a:r>
            <a:r>
              <a:rPr lang="fr-FR" sz="3000" b="1" dirty="0"/>
              <a:t>barre de recherche </a:t>
            </a:r>
            <a:r>
              <a:rPr lang="fr-FR" sz="3000" b="1" dirty="0" smtClean="0"/>
              <a:t>rapide</a:t>
            </a:r>
            <a:r>
              <a:rPr lang="fr-FR" sz="3000" b="1" dirty="0"/>
              <a:t>: </a:t>
            </a:r>
            <a:r>
              <a:rPr lang="fr-FR" sz="3000" dirty="0" smtClean="0"/>
              <a:t>permet </a:t>
            </a:r>
            <a:r>
              <a:rPr lang="fr-FR" sz="3000" dirty="0"/>
              <a:t>à l’utilisateur </a:t>
            </a:r>
            <a:r>
              <a:rPr lang="fr-FR" sz="3000" dirty="0" smtClean="0"/>
              <a:t>d’effectuer </a:t>
            </a:r>
            <a:r>
              <a:rPr lang="fr-FR" sz="3000" dirty="0"/>
              <a:t>une </a:t>
            </a:r>
            <a:r>
              <a:rPr lang="fr-FR" sz="3000" dirty="0" smtClean="0"/>
              <a:t>recherche rapide par mot-clé</a:t>
            </a:r>
          </a:p>
          <a:p>
            <a:pPr marL="0" indent="0">
              <a:buNone/>
            </a:pPr>
            <a:endParaRPr lang="fr-FR" sz="3000" dirty="0"/>
          </a:p>
          <a:p>
            <a:pPr marL="571500" indent="-571500">
              <a:buFont typeface="+mj-lt"/>
              <a:buAutoNum type="romanLcPeriod" startAt="3"/>
            </a:pPr>
            <a:r>
              <a:rPr lang="fr-FR" sz="3000" b="1" dirty="0" smtClean="0"/>
              <a:t>La barre </a:t>
            </a:r>
            <a:r>
              <a:rPr lang="fr-FR" sz="3000" b="1" dirty="0"/>
              <a:t>des outils: </a:t>
            </a:r>
            <a:r>
              <a:rPr lang="fr-FR" sz="2800" dirty="0"/>
              <a:t>constituée des fonctions que l’utilisateur utilise le plus </a:t>
            </a:r>
            <a:r>
              <a:rPr lang="fr-FR" sz="2800" dirty="0" smtClean="0"/>
              <a:t>fréquemment</a:t>
            </a:r>
          </a:p>
          <a:p>
            <a:pPr marL="514350" indent="-514350">
              <a:buFont typeface="+mj-lt"/>
              <a:buAutoNum type="romanLcPeriod" startAt="3"/>
            </a:pPr>
            <a:endParaRPr lang="fr-FR" sz="2800" dirty="0" smtClean="0"/>
          </a:p>
          <a:p>
            <a:pPr marL="514350" indent="-514350">
              <a:buFont typeface="+mj-lt"/>
              <a:buAutoNum type="romanLcPeriod" startAt="3"/>
            </a:pPr>
            <a:r>
              <a:rPr lang="fr-FR" sz="3000" b="1" dirty="0" smtClean="0"/>
              <a:t> Le </a:t>
            </a:r>
            <a:r>
              <a:rPr lang="fr-FR" sz="3000" b="1" dirty="0"/>
              <a:t>chemin: </a:t>
            </a:r>
            <a:r>
              <a:rPr lang="fr-FR" sz="2800" dirty="0" smtClean="0"/>
              <a:t>Indique l’emplacement </a:t>
            </a:r>
            <a:r>
              <a:rPr lang="fr-FR" sz="2800" dirty="0"/>
              <a:t>et l’arborescence de l’espace de travail </a:t>
            </a:r>
            <a:r>
              <a:rPr lang="fr-FR" sz="2800" dirty="0" smtClean="0"/>
              <a:t>/ </a:t>
            </a:r>
            <a:r>
              <a:rPr lang="fr-FR" sz="2800" dirty="0"/>
              <a:t>du document sur lequel l’utilisateur est au temps </a:t>
            </a:r>
            <a:r>
              <a:rPr lang="fr-FR" sz="2800" dirty="0" smtClean="0"/>
              <a:t>« t »</a:t>
            </a:r>
          </a:p>
          <a:p>
            <a:pPr marL="514350" indent="-514350">
              <a:buFont typeface="+mj-lt"/>
              <a:buAutoNum type="romanLcPeriod" startAt="3"/>
            </a:pPr>
            <a:endParaRPr lang="fr-FR" sz="3000" dirty="0" smtClean="0"/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6" name="Imag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580" y="2000044"/>
            <a:ext cx="7301774" cy="428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 6"/>
          <p:cNvPicPr/>
          <p:nvPr/>
        </p:nvPicPr>
        <p:blipFill>
          <a:blip r:embed="rId3"/>
          <a:stretch>
            <a:fillRect/>
          </a:stretch>
        </p:blipFill>
        <p:spPr>
          <a:xfrm>
            <a:off x="1009363" y="4855779"/>
            <a:ext cx="7156044" cy="493486"/>
          </a:xfrm>
          <a:prstGeom prst="rect">
            <a:avLst/>
          </a:prstGeom>
        </p:spPr>
      </p:pic>
      <p:pic>
        <p:nvPicPr>
          <p:cNvPr id="8" name="Image 7"/>
          <p:cNvPicPr/>
          <p:nvPr/>
        </p:nvPicPr>
        <p:blipFill>
          <a:blip r:embed="rId4"/>
          <a:stretch>
            <a:fillRect/>
          </a:stretch>
        </p:blipFill>
        <p:spPr>
          <a:xfrm>
            <a:off x="1036659" y="6348203"/>
            <a:ext cx="5545592" cy="508403"/>
          </a:xfrm>
          <a:prstGeom prst="rect">
            <a:avLst/>
          </a:prstGeom>
        </p:spPr>
      </p:pic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pic>
        <p:nvPicPr>
          <p:cNvPr id="10" name="Image 9"/>
          <p:cNvPicPr/>
          <p:nvPr/>
        </p:nvPicPr>
        <p:blipFill>
          <a:blip r:embed="rId5"/>
          <a:stretch>
            <a:fillRect/>
          </a:stretch>
        </p:blipFill>
        <p:spPr>
          <a:xfrm>
            <a:off x="1009363" y="3454389"/>
            <a:ext cx="5545592" cy="47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46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28914" y="1335092"/>
            <a:ext cx="10929257" cy="5385021"/>
          </a:xfrm>
        </p:spPr>
        <p:txBody>
          <a:bodyPr>
            <a:normAutofit/>
          </a:bodyPr>
          <a:lstStyle/>
          <a:p>
            <a:pPr marL="857250" indent="-857250">
              <a:buFont typeface="+mj-lt"/>
              <a:buAutoNum type="romanLcPeriod" startAt="5"/>
            </a:pPr>
            <a:r>
              <a:rPr lang="fr-FR" sz="3000" b="1" dirty="0" smtClean="0"/>
              <a:t>Le </a:t>
            </a:r>
            <a:r>
              <a:rPr lang="fr-FR" sz="3000" b="1" dirty="0"/>
              <a:t>panneau de navigation: </a:t>
            </a:r>
            <a:r>
              <a:rPr lang="fr-FR" sz="2800" dirty="0"/>
              <a:t>espace de travail collaboratif, où plusieurs utilisateurs modifient et partagent les données de </a:t>
            </a:r>
            <a:r>
              <a:rPr lang="fr-FR" sz="2800" dirty="0" smtClean="0"/>
              <a:t>l'entreprise</a:t>
            </a:r>
          </a:p>
          <a:p>
            <a:pPr marL="857250" indent="-857250">
              <a:buFont typeface="+mj-lt"/>
              <a:buAutoNum type="romanLcPeriod" startAt="5"/>
            </a:pPr>
            <a:endParaRPr lang="fr-FR" sz="3200" dirty="0"/>
          </a:p>
          <a:p>
            <a:pPr marL="857250" indent="-857250">
              <a:buFont typeface="+mj-lt"/>
              <a:buAutoNum type="romanLcPeriod" startAt="5"/>
            </a:pPr>
            <a:endParaRPr lang="fr-FR" sz="3200" dirty="0"/>
          </a:p>
          <a:p>
            <a:pPr marL="514350" indent="-514350">
              <a:buFont typeface="+mj-lt"/>
              <a:buAutoNum type="romanLcPeriod" startAt="5"/>
            </a:pPr>
            <a:endParaRPr lang="fr-FR" sz="3000" b="1" dirty="0" smtClean="0"/>
          </a:p>
          <a:p>
            <a:pPr marL="514350" indent="-514350">
              <a:buFont typeface="+mj-lt"/>
              <a:buAutoNum type="romanLcPeriod" startAt="5"/>
            </a:pPr>
            <a:endParaRPr lang="fr-FR" sz="3000" dirty="0" smtClean="0"/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404" y="3149373"/>
            <a:ext cx="4817884" cy="2903084"/>
          </a:xfrm>
          <a:prstGeom prst="rect">
            <a:avLst/>
          </a:prstGeom>
        </p:spPr>
      </p:pic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9874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28914" y="1335092"/>
            <a:ext cx="10929257" cy="5385021"/>
          </a:xfrm>
        </p:spPr>
        <p:txBody>
          <a:bodyPr>
            <a:normAutofit/>
          </a:bodyPr>
          <a:lstStyle/>
          <a:p>
            <a:pPr marL="571500" indent="-571500">
              <a:buFont typeface="+mj-lt"/>
              <a:buAutoNum type="romanLcPeriod" startAt="6"/>
            </a:pPr>
            <a:r>
              <a:rPr lang="fr-FR" sz="3000" b="1" dirty="0" smtClean="0"/>
              <a:t>Le </a:t>
            </a:r>
            <a:r>
              <a:rPr lang="fr-FR" sz="3000" b="1" dirty="0"/>
              <a:t>navigateur de </a:t>
            </a:r>
            <a:r>
              <a:rPr lang="fr-FR" sz="3000" b="1" dirty="0" smtClean="0"/>
              <a:t>documents: </a:t>
            </a:r>
            <a:r>
              <a:rPr lang="fr-FR" sz="2800" dirty="0" smtClean="0"/>
              <a:t>Affiche le contenu déterminé dans le panneau de navigation</a:t>
            </a:r>
          </a:p>
          <a:p>
            <a:pPr marL="0" indent="0">
              <a:buNone/>
            </a:pPr>
            <a:endParaRPr lang="fr-FR" sz="3200" dirty="0" smtClean="0"/>
          </a:p>
          <a:p>
            <a:pPr marL="0" indent="0">
              <a:buNone/>
            </a:pPr>
            <a:endParaRPr lang="fr-FR" sz="3200" dirty="0"/>
          </a:p>
          <a:p>
            <a:pPr marL="0" indent="0">
              <a:buNone/>
            </a:pPr>
            <a:endParaRPr lang="fr-FR" sz="3200" dirty="0" smtClean="0"/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786" y="2651819"/>
            <a:ext cx="8064765" cy="3647381"/>
          </a:xfrm>
          <a:prstGeom prst="rect">
            <a:avLst/>
          </a:prstGeom>
        </p:spPr>
      </p:pic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727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28914" y="1335092"/>
            <a:ext cx="10929257" cy="5385021"/>
          </a:xfrm>
        </p:spPr>
        <p:txBody>
          <a:bodyPr>
            <a:normAutofit/>
          </a:bodyPr>
          <a:lstStyle/>
          <a:p>
            <a:pPr marL="857250" indent="-857250">
              <a:buFont typeface="+mj-lt"/>
              <a:buAutoNum type="romanLcPeriod" startAt="7"/>
            </a:pPr>
            <a:r>
              <a:rPr lang="fr-FR" sz="2800" b="1" dirty="0"/>
              <a:t>Les propriétés</a:t>
            </a:r>
            <a:r>
              <a:rPr lang="fr-FR" sz="3200" b="1" dirty="0"/>
              <a:t>:</a:t>
            </a:r>
            <a:r>
              <a:rPr lang="fr-FR" sz="3200" dirty="0"/>
              <a:t> </a:t>
            </a:r>
            <a:r>
              <a:rPr lang="fr-FR" sz="2800" dirty="0"/>
              <a:t>Contient les détails de l’élément </a:t>
            </a:r>
            <a:r>
              <a:rPr lang="fr-FR" sz="2800" dirty="0" smtClean="0"/>
              <a:t>sélectionné</a:t>
            </a:r>
          </a:p>
          <a:p>
            <a:pPr marL="571500" indent="-571500">
              <a:buFont typeface="+mj-lt"/>
              <a:buAutoNum type="romanLcPeriod" startAt="7"/>
            </a:pPr>
            <a:endParaRPr lang="fr-FR" sz="2800" dirty="0"/>
          </a:p>
          <a:p>
            <a:pPr marL="571500" indent="-571500">
              <a:buFont typeface="+mj-lt"/>
              <a:buAutoNum type="romanLcPeriod" startAt="7"/>
            </a:pPr>
            <a:endParaRPr lang="fr-FR" sz="2800" dirty="0" smtClean="0"/>
          </a:p>
          <a:p>
            <a:pPr marL="571500" indent="-571500">
              <a:buFont typeface="+mj-lt"/>
              <a:buAutoNum type="romanLcPeriod" startAt="7"/>
            </a:pPr>
            <a:endParaRPr lang="fr-FR" sz="2800" dirty="0"/>
          </a:p>
          <a:p>
            <a:pPr marL="0" indent="0">
              <a:buNone/>
            </a:pPr>
            <a:endParaRPr lang="fr-FR" sz="2800" dirty="0"/>
          </a:p>
          <a:p>
            <a:pPr marL="0" indent="0">
              <a:buNone/>
            </a:pPr>
            <a:endParaRPr lang="fr-FR" sz="2800" dirty="0" smtClean="0"/>
          </a:p>
          <a:p>
            <a:pPr marL="0" indent="0">
              <a:buNone/>
            </a:pPr>
            <a:endParaRPr lang="fr-FR" sz="2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981" y="2259983"/>
            <a:ext cx="6563077" cy="3240000"/>
          </a:xfrm>
          <a:prstGeom prst="rect">
            <a:avLst/>
          </a:prstGeom>
        </p:spPr>
      </p:pic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2781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335093"/>
            <a:ext cx="9905999" cy="354171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fr-FR" sz="3200" dirty="0"/>
              <a:t> </a:t>
            </a:r>
            <a:r>
              <a:rPr lang="fr-FR" sz="3200" dirty="0" smtClean="0"/>
              <a:t>Moteur de recherche</a:t>
            </a:r>
          </a:p>
          <a:p>
            <a:pPr marL="0" indent="0">
              <a:buNone/>
            </a:pPr>
            <a:endParaRPr lang="fr-FR" sz="3200" dirty="0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pic>
        <p:nvPicPr>
          <p:cNvPr id="8" name="Image 7"/>
          <p:cNvPicPr/>
          <p:nvPr/>
        </p:nvPicPr>
        <p:blipFill>
          <a:blip r:embed="rId2"/>
          <a:stretch>
            <a:fillRect/>
          </a:stretch>
        </p:blipFill>
        <p:spPr>
          <a:xfrm>
            <a:off x="1775776" y="2002862"/>
            <a:ext cx="8637270" cy="46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676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28914" y="1335092"/>
            <a:ext cx="10929257" cy="53850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b="1" dirty="0" smtClean="0"/>
              <a:t>RECHERCHE AVANCÉE: </a:t>
            </a:r>
            <a:r>
              <a:rPr lang="fr-FR" sz="2800" dirty="0"/>
              <a:t>organise les champs de requête sur des onglets </a:t>
            </a:r>
            <a:r>
              <a:rPr lang="fr-FR" sz="2800" dirty="0" smtClean="0"/>
              <a:t>d'arborescence</a:t>
            </a:r>
          </a:p>
          <a:p>
            <a:pPr marL="0" indent="0">
              <a:buNone/>
            </a:pPr>
            <a:endParaRPr lang="fr-FR" sz="1050" dirty="0" smtClean="0"/>
          </a:p>
          <a:p>
            <a:pPr marL="571500" indent="-571500">
              <a:buFont typeface="+mj-lt"/>
              <a:buAutoNum type="romanLcPeriod"/>
            </a:pPr>
            <a:r>
              <a:rPr lang="fr-FR" sz="2800" b="1" dirty="0"/>
              <a:t>Recherche </a:t>
            </a:r>
            <a:r>
              <a:rPr lang="fr-FR" sz="2800" b="1" dirty="0" smtClean="0"/>
              <a:t>avancée</a:t>
            </a:r>
          </a:p>
          <a:p>
            <a:pPr marL="0" indent="0">
              <a:buNone/>
            </a:pPr>
            <a:r>
              <a:rPr lang="fr-FR" sz="2800" b="1" dirty="0" smtClean="0"/>
              <a:t>PAR CRITÈRES: </a:t>
            </a:r>
          </a:p>
          <a:p>
            <a:pPr marL="571500" indent="-571500">
              <a:buFont typeface="+mj-lt"/>
              <a:buAutoNum type="romanLcPeriod"/>
            </a:pPr>
            <a:endParaRPr lang="fr-FR" sz="2800" b="1" dirty="0"/>
          </a:p>
          <a:p>
            <a:pPr marL="0" indent="0">
              <a:buNone/>
            </a:pPr>
            <a:endParaRPr lang="fr-FR" sz="2800" dirty="0" smtClean="0"/>
          </a:p>
          <a:p>
            <a:pPr marL="514350" indent="-514350">
              <a:buFont typeface="+mj-lt"/>
              <a:buAutoNum type="romanLcPeriod"/>
            </a:pPr>
            <a:endParaRPr lang="fr-FR" sz="2800" dirty="0" smtClean="0"/>
          </a:p>
          <a:p>
            <a:pPr marL="514350" indent="-514350">
              <a:buFont typeface="+mj-lt"/>
              <a:buAutoNum type="romanLcPeriod"/>
            </a:pPr>
            <a:endParaRPr lang="fr-FR" sz="3000" dirty="0" smtClean="0"/>
          </a:p>
          <a:p>
            <a:pPr marL="0" indent="0">
              <a:buNone/>
            </a:pPr>
            <a:endParaRPr lang="fr-FR" sz="3200" dirty="0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pic>
        <p:nvPicPr>
          <p:cNvPr id="9" name="Image 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410" y="2778809"/>
            <a:ext cx="6588000" cy="342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0689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28914" y="1335092"/>
            <a:ext cx="10929257" cy="53850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b="1" dirty="0" smtClean="0"/>
              <a:t>RECHERCHE AVANCÉE: </a:t>
            </a:r>
            <a:r>
              <a:rPr lang="fr-FR" sz="2800" dirty="0"/>
              <a:t>organise les champs de requête sur des onglets </a:t>
            </a:r>
            <a:r>
              <a:rPr lang="fr-FR" sz="2800" dirty="0" smtClean="0"/>
              <a:t>d'arborescence</a:t>
            </a:r>
          </a:p>
          <a:p>
            <a:pPr marL="0" indent="0">
              <a:buNone/>
            </a:pPr>
            <a:endParaRPr lang="fr-FR" sz="1050" dirty="0" smtClean="0"/>
          </a:p>
          <a:p>
            <a:pPr marL="571500" indent="-571500">
              <a:buFont typeface="+mj-lt"/>
              <a:buAutoNum type="romanLcPeriod" startAt="2"/>
            </a:pPr>
            <a:r>
              <a:rPr lang="fr-FR" sz="2800" b="1" dirty="0" smtClean="0"/>
              <a:t>Recherche </a:t>
            </a:r>
            <a:r>
              <a:rPr lang="fr-FR" sz="2800" b="1" dirty="0"/>
              <a:t>avancée </a:t>
            </a:r>
            <a:endParaRPr lang="fr-FR" sz="2800" b="1" dirty="0" smtClean="0"/>
          </a:p>
          <a:p>
            <a:pPr marL="0" indent="0">
              <a:buNone/>
            </a:pPr>
            <a:r>
              <a:rPr lang="fr-FR" sz="2800" b="1" dirty="0" smtClean="0"/>
              <a:t>PAR TYPE: </a:t>
            </a:r>
          </a:p>
          <a:p>
            <a:pPr marL="571500" indent="-571500">
              <a:buFont typeface="+mj-lt"/>
              <a:buAutoNum type="romanLcPeriod"/>
            </a:pPr>
            <a:endParaRPr lang="fr-FR" sz="2800" dirty="0" smtClean="0"/>
          </a:p>
          <a:p>
            <a:pPr marL="514350" indent="-514350">
              <a:buFont typeface="+mj-lt"/>
              <a:buAutoNum type="romanLcPeriod"/>
            </a:pPr>
            <a:endParaRPr lang="fr-FR" sz="2800" dirty="0" smtClean="0"/>
          </a:p>
          <a:p>
            <a:pPr marL="514350" indent="-514350">
              <a:buFont typeface="+mj-lt"/>
              <a:buAutoNum type="romanLcPeriod"/>
            </a:pPr>
            <a:endParaRPr lang="fr-FR" sz="3000" dirty="0" smtClean="0"/>
          </a:p>
          <a:p>
            <a:pPr marL="0" indent="0">
              <a:buNone/>
            </a:pPr>
            <a:endParaRPr lang="fr-FR" sz="3200" dirty="0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pic>
        <p:nvPicPr>
          <p:cNvPr id="5" name="Imag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3564" y="2956670"/>
            <a:ext cx="6480000" cy="27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220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28914" y="1335092"/>
            <a:ext cx="10929257" cy="53850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b="1" dirty="0" smtClean="0"/>
              <a:t>RÉSULTATS DE RECHERCHE</a:t>
            </a:r>
            <a:endParaRPr lang="fr-FR" sz="1050" dirty="0" smtClean="0"/>
          </a:p>
          <a:p>
            <a:pPr marL="571500" indent="-571500">
              <a:buFont typeface="+mj-lt"/>
              <a:buAutoNum type="romanLcPeriod"/>
            </a:pPr>
            <a:r>
              <a:rPr lang="fr-FR" sz="2800" b="1" dirty="0" smtClean="0"/>
              <a:t>Résultat PAR DÉFAUT: </a:t>
            </a:r>
          </a:p>
          <a:p>
            <a:pPr marL="571500" indent="-571500">
              <a:buFont typeface="+mj-lt"/>
              <a:buAutoNum type="romanLcPeriod"/>
            </a:pPr>
            <a:endParaRPr lang="fr-FR" sz="2800" b="1" dirty="0"/>
          </a:p>
          <a:p>
            <a:pPr marL="571500" indent="-571500">
              <a:buFont typeface="+mj-lt"/>
              <a:buAutoNum type="romanLcPeriod"/>
            </a:pPr>
            <a:endParaRPr lang="fr-FR" sz="2800" b="1" dirty="0" smtClean="0"/>
          </a:p>
          <a:p>
            <a:pPr marL="571500" indent="-571500">
              <a:buFont typeface="+mj-lt"/>
              <a:buAutoNum type="romanLcPeriod"/>
            </a:pPr>
            <a:endParaRPr lang="fr-FR" sz="1800" b="1" dirty="0" smtClean="0"/>
          </a:p>
          <a:p>
            <a:pPr marL="571500" indent="-571500">
              <a:buFont typeface="+mj-lt"/>
              <a:buAutoNum type="romanLcPeriod"/>
            </a:pPr>
            <a:r>
              <a:rPr lang="fr-FR" sz="2800" b="1" dirty="0"/>
              <a:t>Résultat </a:t>
            </a:r>
            <a:r>
              <a:rPr lang="fr-FR" sz="2800" b="1" dirty="0" smtClean="0"/>
              <a:t>EN MODE COMPACTE: </a:t>
            </a:r>
          </a:p>
          <a:p>
            <a:pPr marL="571500" indent="-571500">
              <a:buFont typeface="+mj-lt"/>
              <a:buAutoNum type="romanLcPeriod"/>
            </a:pPr>
            <a:endParaRPr lang="fr-FR" sz="2800" dirty="0" smtClean="0"/>
          </a:p>
          <a:p>
            <a:pPr marL="514350" indent="-514350">
              <a:buFont typeface="+mj-lt"/>
              <a:buAutoNum type="romanLcPeriod"/>
            </a:pPr>
            <a:endParaRPr lang="fr-FR" sz="2800" dirty="0" smtClean="0"/>
          </a:p>
          <a:p>
            <a:pPr marL="514350" indent="-514350">
              <a:buFont typeface="+mj-lt"/>
              <a:buAutoNum type="romanLcPeriod"/>
            </a:pPr>
            <a:endParaRPr lang="fr-FR" sz="3000" dirty="0" smtClean="0"/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43" y="2770639"/>
            <a:ext cx="11000146" cy="127884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914" y="5127623"/>
            <a:ext cx="10963579" cy="634548"/>
          </a:xfrm>
          <a:prstGeom prst="rect">
            <a:avLst/>
          </a:prstGeom>
        </p:spPr>
      </p:pic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5583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335093"/>
            <a:ext cx="9905999" cy="354171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fr-FR" sz="3200" dirty="0"/>
              <a:t> </a:t>
            </a:r>
            <a:r>
              <a:rPr lang="fr-FR" sz="3200" dirty="0" smtClean="0"/>
              <a:t>Tableau de bord : espace personnel</a:t>
            </a:r>
          </a:p>
          <a:p>
            <a:pPr marL="0" indent="0">
              <a:buNone/>
            </a:pPr>
            <a:endParaRPr lang="fr-FR" sz="3200" dirty="0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pic>
        <p:nvPicPr>
          <p:cNvPr id="7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1327410" y="2015740"/>
            <a:ext cx="97200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970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335093"/>
            <a:ext cx="9905999" cy="354171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fr-FR" sz="3200" dirty="0"/>
              <a:t> </a:t>
            </a:r>
            <a:r>
              <a:rPr lang="fr-FR" sz="3200" dirty="0" smtClean="0"/>
              <a:t>Tableau de bord : vue générale</a:t>
            </a:r>
          </a:p>
          <a:p>
            <a:pPr marL="0" indent="0">
              <a:buNone/>
            </a:pPr>
            <a:endParaRPr lang="fr-FR" sz="3200" dirty="0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pic>
        <p:nvPicPr>
          <p:cNvPr id="7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1327410" y="1989984"/>
            <a:ext cx="97200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00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335093"/>
            <a:ext cx="9905999" cy="354171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fr-FR" sz="3200" b="1" dirty="0"/>
              <a:t> La barre des états: </a:t>
            </a:r>
            <a:r>
              <a:rPr lang="fr-FR" sz="3000" dirty="0"/>
              <a:t>indique </a:t>
            </a:r>
            <a:r>
              <a:rPr lang="fr-FR" sz="3000" dirty="0" smtClean="0"/>
              <a:t>le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fr-FR" sz="3000" dirty="0" smtClean="0"/>
              <a:t>Le nom </a:t>
            </a:r>
            <a:r>
              <a:rPr lang="fr-FR" sz="3000" dirty="0"/>
              <a:t>de l’utilisateur connecté, </a:t>
            </a:r>
            <a:endParaRPr lang="fr-FR" sz="3000" dirty="0" smtClean="0"/>
          </a:p>
          <a:p>
            <a:pPr>
              <a:buFontTx/>
              <a:buChar char="-"/>
            </a:pPr>
            <a:r>
              <a:rPr lang="fr-FR" sz="3000" dirty="0" smtClean="0"/>
              <a:t>La </a:t>
            </a:r>
            <a:r>
              <a:rPr lang="fr-FR" sz="3000" dirty="0"/>
              <a:t>taille de référentiels d’utilisateur (espace utilisé par l’utilisateur), et </a:t>
            </a:r>
            <a:endParaRPr lang="fr-FR" sz="3000" dirty="0" smtClean="0"/>
          </a:p>
          <a:p>
            <a:pPr>
              <a:buFontTx/>
              <a:buChar char="-"/>
            </a:pPr>
            <a:r>
              <a:rPr lang="fr-FR" sz="3000" dirty="0"/>
              <a:t>L</a:t>
            </a:r>
            <a:r>
              <a:rPr lang="fr-FR" sz="3000" dirty="0" smtClean="0"/>
              <a:t>es </a:t>
            </a:r>
            <a:r>
              <a:rPr lang="fr-FR" sz="3000" dirty="0"/>
              <a:t>alertes ou notifications</a:t>
            </a:r>
          </a:p>
          <a:p>
            <a:pPr marL="514350" indent="-514350">
              <a:buFont typeface="+mj-lt"/>
              <a:buAutoNum type="arabicPeriod" startAt="4"/>
            </a:pPr>
            <a:endParaRPr lang="fr-FR" sz="3200" dirty="0" smtClean="0"/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17" y="4876807"/>
            <a:ext cx="10263188" cy="571494"/>
          </a:xfrm>
          <a:prstGeom prst="rect">
            <a:avLst/>
          </a:prstGeom>
        </p:spPr>
      </p:pic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991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689" y="1284058"/>
            <a:ext cx="7646082" cy="440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937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9905998" cy="1478570"/>
          </a:xfrm>
        </p:spPr>
        <p:txBody>
          <a:bodyPr/>
          <a:lstStyle/>
          <a:p>
            <a:pPr marL="857250" indent="-857250">
              <a:buFont typeface="+mj-lt"/>
              <a:buAutoNum type="romanUcPeriod" startAt="7"/>
            </a:pPr>
            <a:r>
              <a:rPr lang="fr-FR" dirty="0" smtClean="0"/>
              <a:t>SIMULATION</a:t>
            </a:r>
            <a:endParaRPr lang="fr-FR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9608" y="1829702"/>
            <a:ext cx="7954963" cy="378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30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sange 11">
            <a:extLst>
              <a:ext uri="{FF2B5EF4-FFF2-40B4-BE49-F238E27FC236}">
                <a16:creationId xmlns:a16="http://schemas.microsoft.com/office/drawing/2014/main" xmlns="" id="{7DC8B409-5FAC-4539-B25A-26BE925A48AF}"/>
              </a:ext>
            </a:extLst>
          </p:cNvPr>
          <p:cNvSpPr/>
          <p:nvPr/>
        </p:nvSpPr>
        <p:spPr>
          <a:xfrm>
            <a:off x="4792319" y="2706569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" name="Losange 12">
            <a:extLst>
              <a:ext uri="{FF2B5EF4-FFF2-40B4-BE49-F238E27FC236}">
                <a16:creationId xmlns:a16="http://schemas.microsoft.com/office/drawing/2014/main" xmlns="" id="{91498E2F-539C-46D3-AF7C-BB1DAE76B114}"/>
              </a:ext>
            </a:extLst>
          </p:cNvPr>
          <p:cNvSpPr/>
          <p:nvPr/>
        </p:nvSpPr>
        <p:spPr>
          <a:xfrm>
            <a:off x="4325258" y="1544068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xmlns="" id="{FA061601-468D-486D-B8EE-42BD1BE3ADCC}"/>
              </a:ext>
            </a:extLst>
          </p:cNvPr>
          <p:cNvSpPr txBox="1">
            <a:spLocks/>
          </p:cNvSpPr>
          <p:nvPr/>
        </p:nvSpPr>
        <p:spPr>
          <a:xfrm>
            <a:off x="5065486" y="3233210"/>
            <a:ext cx="2479339" cy="91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600" dirty="0" smtClean="0"/>
              <a:t>Merci</a:t>
            </a:r>
            <a:endParaRPr lang="fr-FR" sz="6600" dirty="0"/>
          </a:p>
        </p:txBody>
      </p:sp>
    </p:spTree>
    <p:extLst>
      <p:ext uri="{BB962C8B-B14F-4D97-AF65-F5344CB8AC3E}">
        <p14:creationId xmlns:p14="http://schemas.microsoft.com/office/powerpoint/2010/main" val="2744271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478294_TF77815013" id="{1E63A3F3-EF3D-4FBB-9BC6-FF1129928CC1}" vid="{D390F830-A480-4B13-B3B6-57818ECCAE2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Cycle problèmesolution </Template>
  <TotalTime>0</TotalTime>
  <Words>1028</Words>
  <Application>Microsoft Office PowerPoint</Application>
  <PresentationFormat>Grand écran</PresentationFormat>
  <Paragraphs>183</Paragraphs>
  <Slides>37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45" baseType="lpstr">
      <vt:lpstr>Arial</vt:lpstr>
      <vt:lpstr>Calibri</vt:lpstr>
      <vt:lpstr>Rockwell</vt:lpstr>
      <vt:lpstr>Trebuchet MS</vt:lpstr>
      <vt:lpstr>Tw Cen MT</vt:lpstr>
      <vt:lpstr>Wingdings</vt:lpstr>
      <vt:lpstr>Wingdings 2</vt:lpstr>
      <vt:lpstr>Circuit</vt:lpstr>
      <vt:lpstr>Collecter et valider les rapports avec openkm</vt:lpstr>
      <vt:lpstr>Ordre du jour</vt:lpstr>
      <vt:lpstr>OpenKM, c’est quoi?</vt:lpstr>
      <vt:lpstr>Comment recevoir et valider les rapports d’UN SFD en 05 étapes ?</vt:lpstr>
      <vt:lpstr>Comment recevoir et valider les rapports d’UN SFD en 05 étapes ?</vt:lpstr>
      <vt:lpstr>Comment consulter les SFD en retards et les rapports déposés en retard ?</vt:lpstr>
      <vt:lpstr>Comment savoir si un utilisateur SFD a déposé son rapport ?</vt:lpstr>
      <vt:lpstr>Comment savoir si un utilisateur SFD a déposé son rapport ?</vt:lpstr>
      <vt:lpstr>Comment savoir si un utilisateur SFD a déposé son rapport ?</vt:lpstr>
      <vt:lpstr>Comment savoir si un utilisateur SFD a déposé son rapport ?</vt:lpstr>
      <vt:lpstr>remarques</vt:lpstr>
      <vt:lpstr>Comment la plateforme fonctionne ?</vt:lpstr>
      <vt:lpstr>Les types de rapports </vt:lpstr>
      <vt:lpstr>Lettre d’accompagnement : </vt:lpstr>
      <vt:lpstr>Etat de mise en œuvre des recommandations : </vt:lpstr>
      <vt:lpstr>Confidentiels </vt:lpstr>
      <vt:lpstr>Autres </vt:lpstr>
      <vt:lpstr>Comment télécharger un document sur la plateforme</vt:lpstr>
      <vt:lpstr>Comment télécharger un document sur la plateforme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Présentation PowerPoint</vt:lpstr>
      <vt:lpstr>SIMULATION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2020-02-10T02:09:46Z</dcterms:created>
  <dcterms:modified xsi:type="dcterms:W3CDTF">2021-03-19T13:38:04Z</dcterms:modified>
</cp:coreProperties>
</file>